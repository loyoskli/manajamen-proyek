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1"/>
                </a:lnTo>
                <a:lnTo>
                  <a:pt x="8959784" y="6543130"/>
                </a:lnTo>
                <a:lnTo>
                  <a:pt x="8932012" y="6579937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2"/>
                </a:lnTo>
                <a:lnTo>
                  <a:pt x="8778290" y="6679438"/>
                </a:lnTo>
                <a:lnTo>
                  <a:pt x="8731751" y="6689829"/>
                </a:lnTo>
                <a:lnTo>
                  <a:pt x="8682990" y="6693406"/>
                </a:lnTo>
                <a:lnTo>
                  <a:pt x="329920" y="6693406"/>
                </a:lnTo>
                <a:lnTo>
                  <a:pt x="281168" y="6689829"/>
                </a:lnTo>
                <a:lnTo>
                  <a:pt x="234636" y="6679438"/>
                </a:lnTo>
                <a:lnTo>
                  <a:pt x="190835" y="6662742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7"/>
                </a:lnTo>
                <a:lnTo>
                  <a:pt x="53153" y="6543130"/>
                </a:lnTo>
                <a:lnTo>
                  <a:pt x="30664" y="6502571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444" y="202819"/>
            <a:ext cx="7249795" cy="11257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696363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444" y="1433830"/>
            <a:ext cx="7534909" cy="4150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2484" y="67056"/>
            <a:ext cx="9022080" cy="6697980"/>
            <a:chOff x="62484" y="67056"/>
            <a:chExt cx="9022080" cy="669798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32" y="70104"/>
              <a:ext cx="9012936" cy="669187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65532" y="70104"/>
              <a:ext cx="9013190" cy="6692265"/>
            </a:xfrm>
            <a:custGeom>
              <a:avLst/>
              <a:gdLst/>
              <a:ahLst/>
              <a:cxnLst/>
              <a:rect l="l" t="t" r="r" b="b"/>
              <a:pathLst>
                <a:path w="9013190" h="6692265">
                  <a:moveTo>
                    <a:pt x="0" y="329819"/>
                  </a:moveTo>
                  <a:lnTo>
                    <a:pt x="3576" y="281088"/>
                  </a:lnTo>
                  <a:lnTo>
                    <a:pt x="13965" y="234576"/>
                  </a:lnTo>
                  <a:lnTo>
                    <a:pt x="30656" y="190791"/>
                  </a:lnTo>
                  <a:lnTo>
                    <a:pt x="53139" y="150245"/>
                  </a:lnTo>
                  <a:lnTo>
                    <a:pt x="80905" y="113448"/>
                  </a:lnTo>
                  <a:lnTo>
                    <a:pt x="113441" y="80911"/>
                  </a:lnTo>
                  <a:lnTo>
                    <a:pt x="150240" y="53144"/>
                  </a:lnTo>
                  <a:lnTo>
                    <a:pt x="190789" y="30660"/>
                  </a:lnTo>
                  <a:lnTo>
                    <a:pt x="234580" y="13967"/>
                  </a:lnTo>
                  <a:lnTo>
                    <a:pt x="281102" y="3576"/>
                  </a:lnTo>
                  <a:lnTo>
                    <a:pt x="329844" y="0"/>
                  </a:lnTo>
                  <a:lnTo>
                    <a:pt x="8683117" y="0"/>
                  </a:lnTo>
                  <a:lnTo>
                    <a:pt x="8731847" y="3576"/>
                  </a:lnTo>
                  <a:lnTo>
                    <a:pt x="8778359" y="13967"/>
                  </a:lnTo>
                  <a:lnTo>
                    <a:pt x="8822144" y="30660"/>
                  </a:lnTo>
                  <a:lnTo>
                    <a:pt x="8862690" y="53144"/>
                  </a:lnTo>
                  <a:lnTo>
                    <a:pt x="8899487" y="80911"/>
                  </a:lnTo>
                  <a:lnTo>
                    <a:pt x="8932024" y="113448"/>
                  </a:lnTo>
                  <a:lnTo>
                    <a:pt x="8959791" y="150245"/>
                  </a:lnTo>
                  <a:lnTo>
                    <a:pt x="8982275" y="190791"/>
                  </a:lnTo>
                  <a:lnTo>
                    <a:pt x="8998968" y="234576"/>
                  </a:lnTo>
                  <a:lnTo>
                    <a:pt x="9009359" y="281088"/>
                  </a:lnTo>
                  <a:lnTo>
                    <a:pt x="9012936" y="329819"/>
                  </a:lnTo>
                  <a:lnTo>
                    <a:pt x="9012936" y="6362026"/>
                  </a:lnTo>
                  <a:lnTo>
                    <a:pt x="9009359" y="6410769"/>
                  </a:lnTo>
                  <a:lnTo>
                    <a:pt x="8998968" y="6457290"/>
                  </a:lnTo>
                  <a:lnTo>
                    <a:pt x="8982275" y="6501081"/>
                  </a:lnTo>
                  <a:lnTo>
                    <a:pt x="8959791" y="6541631"/>
                  </a:lnTo>
                  <a:lnTo>
                    <a:pt x="8932024" y="6578429"/>
                  </a:lnTo>
                  <a:lnTo>
                    <a:pt x="8899487" y="6610967"/>
                  </a:lnTo>
                  <a:lnTo>
                    <a:pt x="8862690" y="6638732"/>
                  </a:lnTo>
                  <a:lnTo>
                    <a:pt x="8822144" y="6661215"/>
                  </a:lnTo>
                  <a:lnTo>
                    <a:pt x="8778359" y="6677907"/>
                  </a:lnTo>
                  <a:lnTo>
                    <a:pt x="8731847" y="6688296"/>
                  </a:lnTo>
                  <a:lnTo>
                    <a:pt x="8683117" y="6691872"/>
                  </a:lnTo>
                  <a:lnTo>
                    <a:pt x="329844" y="6691872"/>
                  </a:lnTo>
                  <a:lnTo>
                    <a:pt x="281102" y="6688296"/>
                  </a:lnTo>
                  <a:lnTo>
                    <a:pt x="234580" y="6677907"/>
                  </a:lnTo>
                  <a:lnTo>
                    <a:pt x="190789" y="6661215"/>
                  </a:lnTo>
                  <a:lnTo>
                    <a:pt x="150240" y="6638732"/>
                  </a:lnTo>
                  <a:lnTo>
                    <a:pt x="113441" y="6610967"/>
                  </a:lnTo>
                  <a:lnTo>
                    <a:pt x="80905" y="6578429"/>
                  </a:lnTo>
                  <a:lnTo>
                    <a:pt x="53139" y="6541631"/>
                  </a:lnTo>
                  <a:lnTo>
                    <a:pt x="30656" y="6501081"/>
                  </a:lnTo>
                  <a:lnTo>
                    <a:pt x="13965" y="6457290"/>
                  </a:lnTo>
                  <a:lnTo>
                    <a:pt x="3576" y="6410769"/>
                  </a:lnTo>
                  <a:lnTo>
                    <a:pt x="0" y="6362026"/>
                  </a:lnTo>
                  <a:lnTo>
                    <a:pt x="0" y="329819"/>
                  </a:lnTo>
                  <a:close/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2484" y="1395983"/>
              <a:ext cx="9022080" cy="121920"/>
            </a:xfrm>
            <a:custGeom>
              <a:avLst/>
              <a:gdLst/>
              <a:ahLst/>
              <a:cxnLst/>
              <a:rect l="l" t="t" r="r" b="b"/>
              <a:pathLst>
                <a:path w="9022080" h="121919">
                  <a:moveTo>
                    <a:pt x="9022080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9022080" y="121920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E6B0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484" y="2976372"/>
              <a:ext cx="9022080" cy="111760"/>
            </a:xfrm>
            <a:custGeom>
              <a:avLst/>
              <a:gdLst/>
              <a:ahLst/>
              <a:cxnLst/>
              <a:rect l="l" t="t" r="r" b="b"/>
              <a:pathLst>
                <a:path w="9022080" h="111760">
                  <a:moveTo>
                    <a:pt x="9022080" y="0"/>
                  </a:moveTo>
                  <a:lnTo>
                    <a:pt x="0" y="0"/>
                  </a:lnTo>
                  <a:lnTo>
                    <a:pt x="0" y="111251"/>
                  </a:lnTo>
                  <a:lnTo>
                    <a:pt x="9022080" y="111251"/>
                  </a:lnTo>
                  <a:lnTo>
                    <a:pt x="9022080" y="0"/>
                  </a:lnTo>
                  <a:close/>
                </a:path>
              </a:pathLst>
            </a:custGeom>
            <a:solidFill>
              <a:srgbClr val="91848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2484" y="1517903"/>
            <a:ext cx="9022080" cy="1458595"/>
          </a:xfrm>
          <a:prstGeom prst="rect"/>
          <a:solidFill>
            <a:srgbClr val="D24717"/>
          </a:solidFill>
        </p:spPr>
        <p:txBody>
          <a:bodyPr wrap="square" lIns="0" tIns="74930" rIns="0" bIns="0" rtlCol="0" vert="horz">
            <a:spAutoFit/>
          </a:bodyPr>
          <a:lstStyle/>
          <a:p>
            <a:pPr marL="2986405" marR="1431290" indent="-1426845">
              <a:lnSpc>
                <a:spcPct val="100000"/>
              </a:lnSpc>
              <a:spcBef>
                <a:spcPts val="590"/>
              </a:spcBef>
            </a:pPr>
            <a:r>
              <a:rPr dirty="0" sz="4000" spc="-55" b="0">
                <a:solidFill>
                  <a:srgbClr val="FFFFFF"/>
                </a:solidFill>
                <a:latin typeface="Franklin Gothic Medium"/>
                <a:cs typeface="Franklin Gothic Medium"/>
              </a:rPr>
              <a:t>Memahami</a:t>
            </a:r>
            <a:r>
              <a:rPr dirty="0" sz="4000" spc="-195" b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10" b="0">
                <a:solidFill>
                  <a:srgbClr val="FFFFFF"/>
                </a:solidFill>
                <a:latin typeface="Franklin Gothic Medium"/>
                <a:cs typeface="Franklin Gothic Medium"/>
              </a:rPr>
              <a:t>Kebutuhan</a:t>
            </a:r>
            <a:r>
              <a:rPr dirty="0" sz="4000" spc="-180" b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20" b="0">
                <a:solidFill>
                  <a:srgbClr val="FFFFFF"/>
                </a:solidFill>
                <a:latin typeface="Franklin Gothic Medium"/>
                <a:cs typeface="Franklin Gothic Medium"/>
              </a:rPr>
              <a:t>User </a:t>
            </a:r>
            <a:r>
              <a:rPr dirty="0" sz="4000" b="0">
                <a:solidFill>
                  <a:srgbClr val="FFFFFF"/>
                </a:solidFill>
                <a:latin typeface="Franklin Gothic Medium"/>
                <a:cs typeface="Franklin Gothic Medium"/>
              </a:rPr>
              <a:t>(Fase</a:t>
            </a:r>
            <a:r>
              <a:rPr dirty="0" sz="4000" spc="-160" b="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4000" spc="-10" b="0">
                <a:solidFill>
                  <a:srgbClr val="FFFFFF"/>
                </a:solidFill>
                <a:latin typeface="Franklin Gothic Medium"/>
                <a:cs typeface="Franklin Gothic Medium"/>
              </a:rPr>
              <a:t>Definisi)</a:t>
            </a:r>
            <a:endParaRPr sz="4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8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0">
                <a:latin typeface="Franklin Gothic Medium"/>
                <a:cs typeface="Franklin Gothic Medium"/>
              </a:rPr>
              <a:t>3</a:t>
            </a:r>
            <a:r>
              <a:rPr dirty="0" sz="4000" spc="-114" b="0">
                <a:latin typeface="Franklin Gothic Medium"/>
                <a:cs typeface="Franklin Gothic Medium"/>
              </a:rPr>
              <a:t> </a:t>
            </a:r>
            <a:r>
              <a:rPr dirty="0" sz="4000" spc="-70" b="0">
                <a:latin typeface="Franklin Gothic Medium"/>
                <a:cs typeface="Franklin Gothic Medium"/>
              </a:rPr>
              <a:t>Aktivitas</a:t>
            </a:r>
            <a:r>
              <a:rPr dirty="0" sz="4000" spc="-114" b="0">
                <a:latin typeface="Franklin Gothic Medium"/>
                <a:cs typeface="Franklin Gothic Medium"/>
              </a:rPr>
              <a:t> </a:t>
            </a:r>
            <a:r>
              <a:rPr dirty="0" sz="4000" spc="-55" b="0">
                <a:latin typeface="Franklin Gothic Medium"/>
                <a:cs typeface="Franklin Gothic Medium"/>
              </a:rPr>
              <a:t>dalam</a:t>
            </a:r>
            <a:r>
              <a:rPr dirty="0" sz="4000" spc="-120" b="0">
                <a:latin typeface="Franklin Gothic Medium"/>
                <a:cs typeface="Franklin Gothic Medium"/>
              </a:rPr>
              <a:t> </a:t>
            </a:r>
            <a:r>
              <a:rPr dirty="0" sz="4000" b="0">
                <a:latin typeface="Franklin Gothic Medium"/>
                <a:cs typeface="Franklin Gothic Medium"/>
              </a:rPr>
              <a:t>Fase</a:t>
            </a:r>
            <a:r>
              <a:rPr dirty="0" sz="4000" spc="-105" b="0">
                <a:latin typeface="Franklin Gothic Medium"/>
                <a:cs typeface="Franklin Gothic Medium"/>
              </a:rPr>
              <a:t> </a:t>
            </a:r>
            <a:r>
              <a:rPr dirty="0" sz="4000" spc="-10" b="0">
                <a:latin typeface="Franklin Gothic Medium"/>
                <a:cs typeface="Franklin Gothic Medium"/>
              </a:rPr>
              <a:t>Definisi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374550"/>
            <a:ext cx="7533640" cy="377888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 sz="2600" spc="-10" b="1">
                <a:latin typeface="Times New Roman"/>
                <a:cs typeface="Times New Roman"/>
              </a:rPr>
              <a:t>Pertama</a:t>
            </a:r>
            <a:endParaRPr sz="2600">
              <a:latin typeface="Times New Roman"/>
              <a:cs typeface="Times New Roman"/>
            </a:endParaRPr>
          </a:p>
          <a:p>
            <a:pPr lvl="1" marL="560705" marR="5080" indent="-232410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dirty="0" sz="2400" spc="-155">
                <a:latin typeface="Times New Roman"/>
                <a:cs typeface="Times New Roman"/>
              </a:rPr>
              <a:t>memahami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dengan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baik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masalah-</a:t>
            </a:r>
            <a:r>
              <a:rPr dirty="0" sz="2400" spc="-170">
                <a:latin typeface="Times New Roman"/>
                <a:cs typeface="Times New Roman"/>
              </a:rPr>
              <a:t>masalah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35">
                <a:latin typeface="Times New Roman"/>
                <a:cs typeface="Times New Roman"/>
              </a:rPr>
              <a:t>dihadapi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oleh </a:t>
            </a:r>
            <a:r>
              <a:rPr dirty="0" sz="2400" spc="-100">
                <a:latin typeface="Times New Roman"/>
                <a:cs typeface="Times New Roman"/>
              </a:rPr>
              <a:t>user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apa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80">
                <a:latin typeface="Times New Roman"/>
                <a:cs typeface="Times New Roman"/>
              </a:rPr>
              <a:t>saja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dibutuhkan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untuk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menyelesaikan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masalah </a:t>
            </a:r>
            <a:r>
              <a:rPr dirty="0" sz="2400" spc="-70">
                <a:latin typeface="Times New Roman"/>
                <a:cs typeface="Times New Roman"/>
              </a:rPr>
              <a:t>tersebut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(KEBUTUHAN)</a:t>
            </a:r>
            <a:endParaRPr sz="24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57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 sz="2600" spc="-10" b="1">
                <a:latin typeface="Times New Roman"/>
                <a:cs typeface="Times New Roman"/>
              </a:rPr>
              <a:t>Kedua</a:t>
            </a:r>
            <a:endParaRPr sz="2600">
              <a:latin typeface="Times New Roman"/>
              <a:cs typeface="Times New Roman"/>
            </a:endParaRPr>
          </a:p>
          <a:p>
            <a:pPr lvl="1" marL="560070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dirty="0" sz="2400" spc="-125">
                <a:latin typeface="Times New Roman"/>
                <a:cs typeface="Times New Roman"/>
              </a:rPr>
              <a:t>memutuskan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proyek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akan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dilaksanakan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atau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tidak</a:t>
            </a:r>
            <a:endParaRPr sz="24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58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 sz="2600" spc="-10" b="1">
                <a:latin typeface="Times New Roman"/>
                <a:cs typeface="Times New Roman"/>
              </a:rPr>
              <a:t>Ketiga</a:t>
            </a:r>
            <a:endParaRPr sz="2600">
              <a:latin typeface="Times New Roman"/>
              <a:cs typeface="Times New Roman"/>
            </a:endParaRPr>
          </a:p>
          <a:p>
            <a:pPr lvl="1" marL="560705" marR="90805" indent="-232410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dirty="0" sz="2400" spc="-114">
                <a:latin typeface="Times New Roman"/>
                <a:cs typeface="Times New Roman"/>
              </a:rPr>
              <a:t>memberikan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perkiraan-perkiraan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proyek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ini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kepada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user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dalam </a:t>
            </a:r>
            <a:r>
              <a:rPr dirty="0" sz="2400" spc="-100">
                <a:latin typeface="Times New Roman"/>
                <a:cs typeface="Times New Roman"/>
              </a:rPr>
              <a:t>bentuk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85" b="1">
                <a:latin typeface="Times New Roman"/>
                <a:cs typeface="Times New Roman"/>
              </a:rPr>
              <a:t>PROPOSAL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1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5" b="0">
                <a:latin typeface="Franklin Gothic Medium"/>
                <a:cs typeface="Franklin Gothic Medium"/>
              </a:rPr>
              <a:t>Memutuskan</a:t>
            </a:r>
            <a:r>
              <a:rPr dirty="0" sz="3600" spc="-120" b="0">
                <a:latin typeface="Franklin Gothic Medium"/>
                <a:cs typeface="Franklin Gothic Medium"/>
              </a:rPr>
              <a:t> </a:t>
            </a:r>
            <a:r>
              <a:rPr dirty="0" sz="3600" spc="-85" b="0">
                <a:latin typeface="Franklin Gothic Medium"/>
                <a:cs typeface="Franklin Gothic Medium"/>
              </a:rPr>
              <a:t>Proyek</a:t>
            </a:r>
            <a:r>
              <a:rPr dirty="0" sz="3600" spc="-140" b="0">
                <a:latin typeface="Franklin Gothic Medium"/>
                <a:cs typeface="Franklin Gothic Medium"/>
              </a:rPr>
              <a:t> </a:t>
            </a:r>
            <a:r>
              <a:rPr dirty="0" sz="3600" spc="-25" b="0">
                <a:latin typeface="Franklin Gothic Medium"/>
                <a:cs typeface="Franklin Gothic Medium"/>
              </a:rPr>
              <a:t>Dilaksanakan(1)</a:t>
            </a:r>
            <a:endParaRPr sz="36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404874"/>
            <a:ext cx="7604125" cy="4142104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85115" marR="321310" indent="-273050">
              <a:lnSpc>
                <a:spcPts val="2810"/>
              </a:lnSpc>
              <a:spcBef>
                <a:spcPts val="45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130">
                <a:latin typeface="Times New Roman"/>
                <a:cs typeface="Times New Roman"/>
              </a:rPr>
              <a:t>harus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dapat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menganalisis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semua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10">
                <a:latin typeface="Times New Roman"/>
                <a:cs typeface="Times New Roman"/>
              </a:rPr>
              <a:t>risiko-</a:t>
            </a:r>
            <a:r>
              <a:rPr dirty="0" sz="2600" spc="-125">
                <a:latin typeface="Times New Roman"/>
                <a:cs typeface="Times New Roman"/>
              </a:rPr>
              <a:t>risiko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10">
                <a:latin typeface="Times New Roman"/>
                <a:cs typeface="Times New Roman"/>
              </a:rPr>
              <a:t>mungkin </a:t>
            </a:r>
            <a:r>
              <a:rPr dirty="0" sz="2600" spc="-110">
                <a:latin typeface="Times New Roman"/>
                <a:cs typeface="Times New Roman"/>
              </a:rPr>
              <a:t>	</a:t>
            </a:r>
            <a:r>
              <a:rPr dirty="0" sz="2600" spc="-90">
                <a:latin typeface="Times New Roman"/>
                <a:cs typeface="Times New Roman"/>
              </a:rPr>
              <a:t>terjadi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210">
                <a:latin typeface="Times New Roman"/>
                <a:cs typeface="Times New Roman"/>
              </a:rPr>
              <a:t>yang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dapat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85">
                <a:latin typeface="Times New Roman"/>
                <a:cs typeface="Times New Roman"/>
              </a:rPr>
              <a:t>menggagalkan</a:t>
            </a:r>
            <a:r>
              <a:rPr dirty="0" sz="2600" spc="10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proyek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tersebut.</a:t>
            </a:r>
            <a:endParaRPr sz="2600">
              <a:latin typeface="Times New Roman"/>
              <a:cs typeface="Times New Roman"/>
            </a:endParaRPr>
          </a:p>
          <a:p>
            <a:pPr marL="285115" marR="326390" indent="-273050">
              <a:lnSpc>
                <a:spcPct val="90000"/>
              </a:lnSpc>
              <a:spcBef>
                <a:spcPts val="56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  <a:tab pos="2609850" algn="l"/>
              </a:tabLst>
            </a:pPr>
            <a:r>
              <a:rPr dirty="0" sz="2600" spc="-190">
                <a:latin typeface="Times New Roman"/>
                <a:cs typeface="Times New Roman"/>
              </a:rPr>
              <a:t>Analisis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ini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sangat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membantu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dalam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penulisan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PROPOSAL </a:t>
            </a:r>
            <a:r>
              <a:rPr dirty="0" sz="2600" spc="-160">
                <a:latin typeface="Times New Roman"/>
                <a:cs typeface="Times New Roman"/>
              </a:rPr>
              <a:t>	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10">
                <a:latin typeface="Times New Roman"/>
                <a:cs typeface="Times New Roman"/>
              </a:rPr>
              <a:t>berisi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rincian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70">
                <a:latin typeface="Times New Roman"/>
                <a:cs typeface="Times New Roman"/>
              </a:rPr>
              <a:t>menganai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proyek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apa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akan </a:t>
            </a:r>
            <a:r>
              <a:rPr dirty="0" sz="2600" spc="-20">
                <a:latin typeface="Times New Roman"/>
                <a:cs typeface="Times New Roman"/>
              </a:rPr>
              <a:t>	</a:t>
            </a:r>
            <a:r>
              <a:rPr dirty="0" sz="2600" spc="-120">
                <a:latin typeface="Times New Roman"/>
                <a:cs typeface="Times New Roman"/>
              </a:rPr>
              <a:t>ditawarkan,</a:t>
            </a:r>
            <a:r>
              <a:rPr dirty="0" sz="2600" spc="-114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kapan, 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berapa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215">
                <a:latin typeface="Times New Roman"/>
                <a:cs typeface="Times New Roman"/>
              </a:rPr>
              <a:t>biayanya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(termasuk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biaya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00">
                <a:latin typeface="Times New Roman"/>
                <a:cs typeface="Times New Roman"/>
              </a:rPr>
              <a:t>untuk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10">
                <a:latin typeface="Times New Roman"/>
                <a:cs typeface="Times New Roman"/>
              </a:rPr>
              <a:t>risiko-</a:t>
            </a:r>
            <a:r>
              <a:rPr dirty="0" sz="2600" spc="-125">
                <a:latin typeface="Times New Roman"/>
                <a:cs typeface="Times New Roman"/>
              </a:rPr>
              <a:t>risiko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mungkin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terjadi).</a:t>
            </a:r>
            <a:endParaRPr sz="26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9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180">
                <a:latin typeface="Times New Roman"/>
                <a:cs typeface="Times New Roman"/>
              </a:rPr>
              <a:t>Buatlah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75" b="1" i="1">
                <a:latin typeface="Times New Roman"/>
                <a:cs typeface="Times New Roman"/>
              </a:rPr>
              <a:t>Requirement</a:t>
            </a:r>
            <a:r>
              <a:rPr dirty="0" sz="2600" spc="-35" b="1" i="1">
                <a:latin typeface="Times New Roman"/>
                <a:cs typeface="Times New Roman"/>
              </a:rPr>
              <a:t> </a:t>
            </a:r>
            <a:r>
              <a:rPr dirty="0" sz="2600" spc="-105" b="1" i="1">
                <a:latin typeface="Times New Roman"/>
                <a:cs typeface="Times New Roman"/>
              </a:rPr>
              <a:t>Document</a:t>
            </a:r>
            <a:r>
              <a:rPr dirty="0" sz="2600" b="1" i="1">
                <a:latin typeface="Times New Roman"/>
                <a:cs typeface="Times New Roman"/>
              </a:rPr>
              <a:t> (RD),</a:t>
            </a:r>
            <a:r>
              <a:rPr dirty="0" sz="2600" spc="-295" b="1" i="1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yaitu</a:t>
            </a:r>
            <a:r>
              <a:rPr dirty="0" sz="2600" spc="20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dokumen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yang </a:t>
            </a:r>
            <a:r>
              <a:rPr dirty="0" sz="2600" spc="-130">
                <a:latin typeface="Times New Roman"/>
                <a:cs typeface="Times New Roman"/>
              </a:rPr>
              <a:t>	</a:t>
            </a:r>
            <a:r>
              <a:rPr dirty="0" sz="2600" spc="-110">
                <a:latin typeface="Times New Roman"/>
                <a:cs typeface="Times New Roman"/>
              </a:rPr>
              <a:t>berisi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14">
                <a:latin typeface="Times New Roman"/>
                <a:cs typeface="Times New Roman"/>
              </a:rPr>
              <a:t>rincian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kebutuhan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14">
                <a:latin typeface="Times New Roman"/>
                <a:cs typeface="Times New Roman"/>
              </a:rPr>
              <a:t>user.</a:t>
            </a:r>
            <a:r>
              <a:rPr dirty="0" sz="2600" spc="-13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Dokumen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RD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harus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jelas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dan </a:t>
            </a:r>
            <a:r>
              <a:rPr dirty="0" sz="2600" spc="-25">
                <a:latin typeface="Times New Roman"/>
                <a:cs typeface="Times New Roman"/>
              </a:rPr>
              <a:t>	</a:t>
            </a:r>
            <a:r>
              <a:rPr dirty="0" sz="2600" spc="-135">
                <a:latin typeface="Times New Roman"/>
                <a:cs typeface="Times New Roman"/>
              </a:rPr>
              <a:t>lengkap,</a:t>
            </a:r>
            <a:r>
              <a:rPr dirty="0" sz="2600" spc="-130">
                <a:latin typeface="Times New Roman"/>
                <a:cs typeface="Times New Roman"/>
              </a:rPr>
              <a:t> </a:t>
            </a:r>
            <a:r>
              <a:rPr dirty="0" sz="2600" spc="-180">
                <a:latin typeface="Times New Roman"/>
                <a:cs typeface="Times New Roman"/>
              </a:rPr>
              <a:t>sehingga</a:t>
            </a:r>
            <a:r>
              <a:rPr dirty="0" sz="2600" spc="-365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Tim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Proyek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270">
                <a:latin typeface="Times New Roman"/>
                <a:cs typeface="Times New Roman"/>
              </a:rPr>
              <a:t>(</a:t>
            </a:r>
            <a:r>
              <a:rPr dirty="0" sz="2600" spc="-270" i="1">
                <a:latin typeface="Times New Roman"/>
                <a:cs typeface="Times New Roman"/>
              </a:rPr>
              <a:t>Project</a:t>
            </a:r>
            <a:r>
              <a:rPr dirty="0" sz="2600" spc="-355" i="1">
                <a:latin typeface="Times New Roman"/>
                <a:cs typeface="Times New Roman"/>
              </a:rPr>
              <a:t> </a:t>
            </a:r>
            <a:r>
              <a:rPr dirty="0" sz="2600" spc="-415" i="1">
                <a:latin typeface="Times New Roman"/>
                <a:cs typeface="Times New Roman"/>
              </a:rPr>
              <a:t>Tem</a:t>
            </a:r>
            <a:r>
              <a:rPr dirty="0" sz="2600" spc="-35" i="1">
                <a:latin typeface="Times New Roman"/>
                <a:cs typeface="Times New Roman"/>
              </a:rPr>
              <a:t> </a:t>
            </a:r>
            <a:r>
              <a:rPr dirty="0" sz="2600" spc="-265" i="1">
                <a:latin typeface="Times New Roman"/>
                <a:cs typeface="Times New Roman"/>
              </a:rPr>
              <a:t>(PT))</a:t>
            </a:r>
            <a:r>
              <a:rPr dirty="0" sz="2600" spc="-10" i="1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dapat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65">
                <a:latin typeface="Times New Roman"/>
                <a:cs typeface="Times New Roman"/>
              </a:rPr>
              <a:t>memahami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14">
                <a:latin typeface="Times New Roman"/>
                <a:cs typeface="Times New Roman"/>
              </a:rPr>
              <a:t>seluruh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75">
                <a:latin typeface="Times New Roman"/>
                <a:cs typeface="Times New Roman"/>
              </a:rPr>
              <a:t>masalah-</a:t>
            </a:r>
            <a:r>
              <a:rPr dirty="0" sz="2600" spc="-190">
                <a:latin typeface="Times New Roman"/>
                <a:cs typeface="Times New Roman"/>
              </a:rPr>
              <a:t>masalah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dihadapi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oleh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user </a:t>
            </a:r>
            <a:r>
              <a:rPr dirty="0" sz="2600" spc="-20">
                <a:latin typeface="Times New Roman"/>
                <a:cs typeface="Times New Roman"/>
              </a:rPr>
              <a:t>	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dapat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memperkirakan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215">
                <a:latin typeface="Times New Roman"/>
                <a:cs typeface="Times New Roman"/>
              </a:rPr>
              <a:t>biaya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penyelesaian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proyek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tersebut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1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35" b="0">
                <a:latin typeface="Franklin Gothic Medium"/>
                <a:cs typeface="Franklin Gothic Medium"/>
              </a:rPr>
              <a:t>Memutuskan</a:t>
            </a:r>
            <a:r>
              <a:rPr dirty="0" sz="3600" spc="-120" b="0">
                <a:latin typeface="Franklin Gothic Medium"/>
                <a:cs typeface="Franklin Gothic Medium"/>
              </a:rPr>
              <a:t> </a:t>
            </a:r>
            <a:r>
              <a:rPr dirty="0" sz="3600" spc="-85" b="0">
                <a:latin typeface="Franklin Gothic Medium"/>
                <a:cs typeface="Franklin Gothic Medium"/>
              </a:rPr>
              <a:t>Proyek</a:t>
            </a:r>
            <a:r>
              <a:rPr dirty="0" sz="3600" spc="-140" b="0">
                <a:latin typeface="Franklin Gothic Medium"/>
                <a:cs typeface="Franklin Gothic Medium"/>
              </a:rPr>
              <a:t> </a:t>
            </a:r>
            <a:r>
              <a:rPr dirty="0" sz="3600" spc="-25" b="0">
                <a:latin typeface="Franklin Gothic Medium"/>
                <a:cs typeface="Franklin Gothic Medium"/>
              </a:rPr>
              <a:t>Dilaksanakan(2)</a:t>
            </a:r>
            <a:endParaRPr sz="36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433830"/>
            <a:ext cx="7461250" cy="44621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marR="203200" indent="-2730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170">
                <a:latin typeface="Times New Roman"/>
                <a:cs typeface="Times New Roman"/>
              </a:rPr>
              <a:t>Kejadian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20">
                <a:latin typeface="Times New Roman"/>
                <a:cs typeface="Times New Roman"/>
              </a:rPr>
              <a:t>penting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pertama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80">
                <a:latin typeface="Times New Roman"/>
                <a:cs typeface="Times New Roman"/>
              </a:rPr>
              <a:t>akan</a:t>
            </a:r>
            <a:r>
              <a:rPr dirty="0" sz="2600" spc="-254">
                <a:latin typeface="Times New Roman"/>
                <a:cs typeface="Times New Roman"/>
              </a:rPr>
              <a:t> </a:t>
            </a:r>
            <a:r>
              <a:rPr dirty="0" sz="2600" spc="-204">
                <a:latin typeface="Times New Roman"/>
                <a:cs typeface="Times New Roman"/>
              </a:rPr>
              <a:t>Anda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hadapi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berupa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05">
                <a:latin typeface="Times New Roman"/>
                <a:cs typeface="Times New Roman"/>
              </a:rPr>
              <a:t>persetujuan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atau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penandatanganan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dokumen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RD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oleh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User </a:t>
            </a:r>
            <a:r>
              <a:rPr dirty="0" sz="2600" spc="-20">
                <a:latin typeface="Times New Roman"/>
                <a:cs typeface="Times New Roman"/>
              </a:rPr>
              <a:t>	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385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Tim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Proyek.</a:t>
            </a:r>
            <a:endParaRPr sz="2600">
              <a:latin typeface="Times New Roman"/>
              <a:cs typeface="Times New Roman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180">
                <a:latin typeface="Times New Roman"/>
                <a:cs typeface="Times New Roman"/>
              </a:rPr>
              <a:t>Buatlah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35" b="1">
                <a:latin typeface="Times New Roman"/>
                <a:cs typeface="Times New Roman"/>
              </a:rPr>
              <a:t>Pendahuluan</a:t>
            </a:r>
            <a:r>
              <a:rPr dirty="0" sz="2600" spc="-50" b="1">
                <a:latin typeface="Times New Roman"/>
                <a:cs typeface="Times New Roman"/>
              </a:rPr>
              <a:t> Perencanaan</a:t>
            </a:r>
            <a:r>
              <a:rPr dirty="0" sz="2600" spc="-5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Proyek </a:t>
            </a:r>
            <a:r>
              <a:rPr dirty="0" sz="2600" spc="-10" b="1">
                <a:latin typeface="Times New Roman"/>
                <a:cs typeface="Times New Roman"/>
              </a:rPr>
              <a:t>	</a:t>
            </a:r>
            <a:r>
              <a:rPr dirty="0" sz="2600" spc="-50" b="1">
                <a:latin typeface="Times New Roman"/>
                <a:cs typeface="Times New Roman"/>
              </a:rPr>
              <a:t>(</a:t>
            </a:r>
            <a:r>
              <a:rPr dirty="0" sz="2600" spc="-50" b="1" i="1">
                <a:latin typeface="Times New Roman"/>
                <a:cs typeface="Times New Roman"/>
              </a:rPr>
              <a:t>Preliminary </a:t>
            </a:r>
            <a:r>
              <a:rPr dirty="0" sz="2600" spc="-85" b="1" i="1">
                <a:latin typeface="Times New Roman"/>
                <a:cs typeface="Times New Roman"/>
              </a:rPr>
              <a:t>Project</a:t>
            </a:r>
            <a:r>
              <a:rPr dirty="0" sz="2600" spc="-35" b="1" i="1">
                <a:latin typeface="Times New Roman"/>
                <a:cs typeface="Times New Roman"/>
              </a:rPr>
              <a:t> </a:t>
            </a:r>
            <a:r>
              <a:rPr dirty="0" sz="2600" spc="-60" b="1" i="1">
                <a:latin typeface="Times New Roman"/>
                <a:cs typeface="Times New Roman"/>
              </a:rPr>
              <a:t>Plan</a:t>
            </a:r>
            <a:r>
              <a:rPr dirty="0" sz="2600" spc="-30" b="1" i="1">
                <a:latin typeface="Times New Roman"/>
                <a:cs typeface="Times New Roman"/>
              </a:rPr>
              <a:t> </a:t>
            </a:r>
            <a:r>
              <a:rPr dirty="0" sz="2600" b="1" i="1">
                <a:latin typeface="Times New Roman"/>
                <a:cs typeface="Times New Roman"/>
              </a:rPr>
              <a:t>(PPP)).</a:t>
            </a:r>
            <a:r>
              <a:rPr dirty="0" sz="2600" spc="-320" b="1" i="1">
                <a:latin typeface="Times New Roman"/>
                <a:cs typeface="Times New Roman"/>
              </a:rPr>
              <a:t> </a:t>
            </a:r>
            <a:r>
              <a:rPr dirty="0" sz="2600" spc="-110" b="1" i="1">
                <a:latin typeface="Times New Roman"/>
                <a:cs typeface="Times New Roman"/>
              </a:rPr>
              <a:t>PPP</a:t>
            </a:r>
            <a:r>
              <a:rPr dirty="0" sz="2600" spc="-15" b="1" i="1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merupakan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80">
                <a:latin typeface="Times New Roman"/>
                <a:cs typeface="Times New Roman"/>
              </a:rPr>
              <a:t>langkah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pertama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dalam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merencanakan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langkah-</a:t>
            </a:r>
            <a:r>
              <a:rPr dirty="0" sz="2600" spc="-10">
                <a:latin typeface="Times New Roman"/>
                <a:cs typeface="Times New Roman"/>
              </a:rPr>
              <a:t>langkah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25">
                <a:latin typeface="Times New Roman"/>
                <a:cs typeface="Times New Roman"/>
              </a:rPr>
              <a:t>berikutnya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harus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diambil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00">
                <a:latin typeface="Times New Roman"/>
                <a:cs typeface="Times New Roman"/>
              </a:rPr>
              <a:t>untuk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80">
                <a:latin typeface="Times New Roman"/>
                <a:cs typeface="Times New Roman"/>
              </a:rPr>
              <a:t>mengembangkan </a:t>
            </a:r>
            <a:r>
              <a:rPr dirty="0" sz="2600" spc="-80">
                <a:latin typeface="Times New Roman"/>
                <a:cs typeface="Times New Roman"/>
              </a:rPr>
              <a:t>	</a:t>
            </a:r>
            <a:r>
              <a:rPr dirty="0" sz="2600" spc="-114">
                <a:latin typeface="Times New Roman"/>
                <a:cs typeface="Times New Roman"/>
              </a:rPr>
              <a:t>produk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20">
                <a:latin typeface="Times New Roman"/>
                <a:cs typeface="Times New Roman"/>
              </a:rPr>
              <a:t>sumber-</a:t>
            </a:r>
            <a:r>
              <a:rPr dirty="0" sz="2600" spc="-125">
                <a:latin typeface="Times New Roman"/>
                <a:cs typeface="Times New Roman"/>
              </a:rPr>
              <a:t>sumber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apa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95">
                <a:latin typeface="Times New Roman"/>
                <a:cs typeface="Times New Roman"/>
              </a:rPr>
              <a:t>saja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dibutuhkan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untuk </a:t>
            </a:r>
            <a:r>
              <a:rPr dirty="0" sz="2600" spc="-20">
                <a:latin typeface="Times New Roman"/>
                <a:cs typeface="Times New Roman"/>
              </a:rPr>
              <a:t>	</a:t>
            </a:r>
            <a:r>
              <a:rPr dirty="0" sz="2600" spc="-130">
                <a:latin typeface="Times New Roman"/>
                <a:cs typeface="Times New Roman"/>
              </a:rPr>
              <a:t>setiap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langkahnya.</a:t>
            </a:r>
            <a:r>
              <a:rPr dirty="0" sz="2600" spc="-95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Rencana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75">
                <a:latin typeface="Times New Roman"/>
                <a:cs typeface="Times New Roman"/>
              </a:rPr>
              <a:t>tersebut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menggambarkan</a:t>
            </a:r>
            <a:r>
              <a:rPr dirty="0" sz="2600" spc="10">
                <a:latin typeface="Times New Roman"/>
                <a:cs typeface="Times New Roman"/>
              </a:rPr>
              <a:t> </a:t>
            </a:r>
            <a:r>
              <a:rPr dirty="0" sz="2600" spc="-65">
                <a:latin typeface="Times New Roman"/>
                <a:cs typeface="Times New Roman"/>
              </a:rPr>
              <a:t>berapa </a:t>
            </a:r>
            <a:r>
              <a:rPr dirty="0" sz="2600" spc="-65">
                <a:latin typeface="Times New Roman"/>
                <a:cs typeface="Times New Roman"/>
              </a:rPr>
              <a:t>	</a:t>
            </a:r>
            <a:r>
              <a:rPr dirty="0" sz="2600" spc="-175">
                <a:latin typeface="Times New Roman"/>
                <a:cs typeface="Times New Roman"/>
              </a:rPr>
              <a:t>lama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14">
                <a:latin typeface="Times New Roman"/>
                <a:cs typeface="Times New Roman"/>
              </a:rPr>
              <a:t>sumber-</a:t>
            </a:r>
            <a:r>
              <a:rPr dirty="0" sz="2600" spc="-125">
                <a:latin typeface="Times New Roman"/>
                <a:cs typeface="Times New Roman"/>
              </a:rPr>
              <a:t>sumber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75">
                <a:latin typeface="Times New Roman"/>
                <a:cs typeface="Times New Roman"/>
              </a:rPr>
              <a:t>tersebut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80">
                <a:latin typeface="Times New Roman"/>
                <a:cs typeface="Times New Roman"/>
              </a:rPr>
              <a:t>akan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25">
                <a:latin typeface="Times New Roman"/>
                <a:cs typeface="Times New Roman"/>
              </a:rPr>
              <a:t>diperlukan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berapa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95">
                <a:latin typeface="Times New Roman"/>
                <a:cs typeface="Times New Roman"/>
              </a:rPr>
              <a:t>banyak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215">
                <a:latin typeface="Times New Roman"/>
                <a:cs typeface="Times New Roman"/>
              </a:rPr>
              <a:t>biaya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80">
                <a:latin typeface="Times New Roman"/>
                <a:cs typeface="Times New Roman"/>
              </a:rPr>
              <a:t>akan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30">
                <a:latin typeface="Times New Roman"/>
                <a:cs typeface="Times New Roman"/>
              </a:rPr>
              <a:t>dikeluarkan.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202819"/>
            <a:ext cx="665416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3600" spc="-65" b="0">
                <a:latin typeface="Franklin Gothic Medium"/>
                <a:cs typeface="Franklin Gothic Medium"/>
              </a:rPr>
              <a:t>Dokumen</a:t>
            </a:r>
            <a:r>
              <a:rPr dirty="0" sz="3600" spc="-110" b="0">
                <a:latin typeface="Franklin Gothic Medium"/>
                <a:cs typeface="Franklin Gothic Medium"/>
              </a:rPr>
              <a:t> </a:t>
            </a:r>
            <a:r>
              <a:rPr dirty="0" sz="3600" spc="-10" b="0">
                <a:latin typeface="Franklin Gothic Medium"/>
                <a:cs typeface="Franklin Gothic Medium"/>
              </a:rPr>
              <a:t>Kebutuhan </a:t>
            </a:r>
            <a:r>
              <a:rPr dirty="0" sz="3600" spc="-175"/>
              <a:t>(</a:t>
            </a:r>
            <a:r>
              <a:rPr dirty="0" sz="3600" spc="-175" i="1">
                <a:latin typeface="Trebuchet MS"/>
                <a:cs typeface="Trebuchet MS"/>
              </a:rPr>
              <a:t>REQUIREMENT</a:t>
            </a:r>
            <a:r>
              <a:rPr dirty="0" sz="3600" spc="-210" i="1">
                <a:latin typeface="Trebuchet MS"/>
                <a:cs typeface="Trebuchet MS"/>
              </a:rPr>
              <a:t> </a:t>
            </a:r>
            <a:r>
              <a:rPr dirty="0" sz="3600" spc="-155" i="1">
                <a:latin typeface="Trebuchet MS"/>
                <a:cs typeface="Trebuchet MS"/>
              </a:rPr>
              <a:t>DOCUMENT</a:t>
            </a:r>
            <a:r>
              <a:rPr dirty="0" sz="3600" spc="-210" i="1">
                <a:latin typeface="Trebuchet MS"/>
                <a:cs typeface="Trebuchet MS"/>
              </a:rPr>
              <a:t> </a:t>
            </a:r>
            <a:r>
              <a:rPr dirty="0" sz="3600" spc="254" i="1">
                <a:latin typeface="Trebuchet MS"/>
                <a:cs typeface="Trebuchet MS"/>
              </a:rPr>
              <a:t>/</a:t>
            </a:r>
            <a:r>
              <a:rPr dirty="0" sz="3600" spc="-195" i="1">
                <a:latin typeface="Trebuchet MS"/>
                <a:cs typeface="Trebuchet MS"/>
              </a:rPr>
              <a:t> </a:t>
            </a:r>
            <a:r>
              <a:rPr dirty="0" sz="3600" spc="-25" i="1">
                <a:latin typeface="Trebuchet MS"/>
                <a:cs typeface="Trebuchet MS"/>
              </a:rPr>
              <a:t>RD)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410970"/>
            <a:ext cx="7542530" cy="42418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86385" marR="146685" indent="-274320">
              <a:lnSpc>
                <a:spcPct val="90100"/>
              </a:lnSpc>
              <a:spcBef>
                <a:spcPts val="3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175">
                <a:latin typeface="Times New Roman"/>
                <a:cs typeface="Times New Roman"/>
              </a:rPr>
              <a:t>RD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menyatakan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masalah-</a:t>
            </a:r>
            <a:r>
              <a:rPr dirty="0" sz="2400" spc="-170">
                <a:latin typeface="Times New Roman"/>
                <a:cs typeface="Times New Roman"/>
              </a:rPr>
              <a:t>masalah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dihadapi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user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solusi </a:t>
            </a:r>
            <a:r>
              <a:rPr dirty="0" sz="2400" spc="-130">
                <a:latin typeface="Times New Roman"/>
                <a:cs typeface="Times New Roman"/>
              </a:rPr>
              <a:t>umum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85">
                <a:latin typeface="Times New Roman"/>
                <a:cs typeface="Times New Roman"/>
              </a:rPr>
              <a:t>yang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dibutuhkan.</a:t>
            </a:r>
            <a:r>
              <a:rPr dirty="0" sz="2400" spc="-165">
                <a:latin typeface="Times New Roman"/>
                <a:cs typeface="Times New Roman"/>
              </a:rPr>
              <a:t> </a:t>
            </a:r>
            <a:r>
              <a:rPr dirty="0" sz="2400" spc="-215">
                <a:latin typeface="Times New Roman"/>
                <a:cs typeface="Times New Roman"/>
              </a:rPr>
              <a:t>Bahasanya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berorientasi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pada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85">
                <a:latin typeface="Times New Roman"/>
                <a:cs typeface="Times New Roman"/>
              </a:rPr>
              <a:t>bahasa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yang </a:t>
            </a:r>
            <a:r>
              <a:rPr dirty="0" sz="2400" spc="-145">
                <a:latin typeface="Times New Roman"/>
                <a:cs typeface="Times New Roman"/>
              </a:rPr>
              <a:t>digunakan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oleh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user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sehari-</a:t>
            </a:r>
            <a:r>
              <a:rPr dirty="0" sz="2400" spc="-70">
                <a:latin typeface="Times New Roman"/>
                <a:cs typeface="Times New Roman"/>
              </a:rPr>
              <a:t>hari,</a:t>
            </a:r>
            <a:r>
              <a:rPr dirty="0" sz="2400" spc="-17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jauh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dari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85">
                <a:latin typeface="Times New Roman"/>
                <a:cs typeface="Times New Roman"/>
              </a:rPr>
              <a:t>bahasa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komputer.</a:t>
            </a:r>
            <a:endParaRPr sz="2400">
              <a:latin typeface="Times New Roman"/>
              <a:cs typeface="Times New Roman"/>
            </a:endParaRPr>
          </a:p>
          <a:p>
            <a:pPr marL="286385" marR="244475" indent="-274320">
              <a:lnSpc>
                <a:spcPts val="2590"/>
              </a:lnSpc>
              <a:spcBef>
                <a:spcPts val="64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175">
                <a:latin typeface="Times New Roman"/>
                <a:cs typeface="Times New Roman"/>
              </a:rPr>
              <a:t>Kadangkala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dokumen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RD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digunakan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70">
                <a:latin typeface="Times New Roman"/>
                <a:cs typeface="Times New Roman"/>
              </a:rPr>
              <a:t>sebagai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permohonan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untuk </a:t>
            </a:r>
            <a:r>
              <a:rPr dirty="0" sz="2400" spc="-155">
                <a:latin typeface="Times New Roman"/>
                <a:cs typeface="Times New Roman"/>
              </a:rPr>
              <a:t>sebuah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proposal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229">
                <a:latin typeface="Times New Roman"/>
                <a:cs typeface="Times New Roman"/>
              </a:rPr>
              <a:t>(</a:t>
            </a:r>
            <a:r>
              <a:rPr dirty="0" sz="2400" spc="-229" i="1">
                <a:latin typeface="Times New Roman"/>
                <a:cs typeface="Times New Roman"/>
              </a:rPr>
              <a:t>Request</a:t>
            </a:r>
            <a:r>
              <a:rPr dirty="0" sz="2400" spc="-20" i="1">
                <a:latin typeface="Times New Roman"/>
                <a:cs typeface="Times New Roman"/>
              </a:rPr>
              <a:t> </a:t>
            </a:r>
            <a:r>
              <a:rPr dirty="0" sz="2400" spc="-250" i="1">
                <a:latin typeface="Times New Roman"/>
                <a:cs typeface="Times New Roman"/>
              </a:rPr>
              <a:t>for</a:t>
            </a:r>
            <a:r>
              <a:rPr dirty="0" sz="2400" spc="-15" i="1">
                <a:latin typeface="Times New Roman"/>
                <a:cs typeface="Times New Roman"/>
              </a:rPr>
              <a:t> </a:t>
            </a:r>
            <a:r>
              <a:rPr dirty="0" sz="2400" spc="-254" i="1">
                <a:latin typeface="Times New Roman"/>
                <a:cs typeface="Times New Roman"/>
              </a:rPr>
              <a:t>a</a:t>
            </a:r>
            <a:r>
              <a:rPr dirty="0" sz="2400" spc="-20" i="1">
                <a:latin typeface="Times New Roman"/>
                <a:cs typeface="Times New Roman"/>
              </a:rPr>
              <a:t> </a:t>
            </a:r>
            <a:r>
              <a:rPr dirty="0" sz="2400" spc="-280" i="1">
                <a:latin typeface="Times New Roman"/>
                <a:cs typeface="Times New Roman"/>
              </a:rPr>
              <a:t>proposal</a:t>
            </a:r>
            <a:r>
              <a:rPr dirty="0" sz="2400" spc="-25" i="1">
                <a:latin typeface="Times New Roman"/>
                <a:cs typeface="Times New Roman"/>
              </a:rPr>
              <a:t> </a:t>
            </a:r>
            <a:r>
              <a:rPr dirty="0" sz="2400" spc="-295" i="1">
                <a:latin typeface="Times New Roman"/>
                <a:cs typeface="Times New Roman"/>
              </a:rPr>
              <a:t>(RFP))</a:t>
            </a:r>
            <a:r>
              <a:rPr dirty="0" sz="2400" spc="-30" i="1">
                <a:latin typeface="Times New Roman"/>
                <a:cs typeface="Times New Roman"/>
              </a:rPr>
              <a:t> </a:t>
            </a:r>
            <a:r>
              <a:rPr dirty="0" sz="2400" spc="-190" i="1">
                <a:latin typeface="Times New Roman"/>
                <a:cs typeface="Times New Roman"/>
              </a:rPr>
              <a:t>ketika</a:t>
            </a:r>
            <a:r>
              <a:rPr dirty="0" sz="2400" spc="-20" i="1">
                <a:latin typeface="Times New Roman"/>
                <a:cs typeface="Times New Roman"/>
              </a:rPr>
              <a:t> </a:t>
            </a:r>
            <a:r>
              <a:rPr dirty="0" sz="2400" spc="-300" i="1">
                <a:latin typeface="Times New Roman"/>
                <a:cs typeface="Times New Roman"/>
              </a:rPr>
              <a:t>user </a:t>
            </a:r>
            <a:r>
              <a:rPr dirty="0" sz="2400" spc="-145">
                <a:latin typeface="Times New Roman"/>
                <a:cs typeface="Times New Roman"/>
              </a:rPr>
              <a:t>menawarkan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proyeknya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kepada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kontraktor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luar.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59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130">
                <a:latin typeface="Times New Roman"/>
                <a:cs typeface="Times New Roman"/>
              </a:rPr>
              <a:t>Proses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tanya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85">
                <a:latin typeface="Times New Roman"/>
                <a:cs typeface="Times New Roman"/>
              </a:rPr>
              <a:t>jawab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dilakukan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untuk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mendapatkan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informasi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yang </a:t>
            </a:r>
            <a:r>
              <a:rPr dirty="0" sz="2400" spc="-75">
                <a:latin typeface="Times New Roman"/>
                <a:cs typeface="Times New Roman"/>
              </a:rPr>
              <a:t>tepat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dari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user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untuk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memperoleh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RD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baik.</a:t>
            </a:r>
            <a:r>
              <a:rPr dirty="0" sz="2400" spc="-16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User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akan </a:t>
            </a:r>
            <a:r>
              <a:rPr dirty="0" sz="2400" spc="-114">
                <a:latin typeface="Times New Roman"/>
                <a:cs typeface="Times New Roman"/>
              </a:rPr>
              <a:t>memberikan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semua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informasi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anda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butuhkan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tidak</a:t>
            </a:r>
            <a:r>
              <a:rPr dirty="0" sz="2400" spc="-20">
                <a:latin typeface="Times New Roman"/>
                <a:cs typeface="Times New Roman"/>
              </a:rPr>
              <a:t> lebih.</a:t>
            </a:r>
            <a:endParaRPr sz="2400">
              <a:latin typeface="Times New Roman"/>
              <a:cs typeface="Times New Roman"/>
            </a:endParaRPr>
          </a:p>
          <a:p>
            <a:pPr marL="286385" marR="196850" indent="-274320">
              <a:lnSpc>
                <a:spcPct val="90100"/>
              </a:lnSpc>
              <a:spcBef>
                <a:spcPts val="56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130">
                <a:latin typeface="Times New Roman"/>
                <a:cs typeface="Times New Roman"/>
              </a:rPr>
              <a:t>Tim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proyek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interviewer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35">
                <a:latin typeface="Times New Roman"/>
                <a:cs typeface="Times New Roman"/>
              </a:rPr>
              <a:t>berkewajiban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untuk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mempelajari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semua </a:t>
            </a:r>
            <a:r>
              <a:rPr dirty="0" sz="2400" spc="-150">
                <a:latin typeface="Times New Roman"/>
                <a:cs typeface="Times New Roman"/>
              </a:rPr>
              <a:t>bisnis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user,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memahami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teknologi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user,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30">
                <a:latin typeface="Times New Roman"/>
                <a:cs typeface="Times New Roman"/>
              </a:rPr>
              <a:t> mengajukan </a:t>
            </a:r>
            <a:r>
              <a:rPr dirty="0" sz="2400" spc="-114">
                <a:latin typeface="Times New Roman"/>
                <a:cs typeface="Times New Roman"/>
              </a:rPr>
              <a:t>pertanyaan-</a:t>
            </a:r>
            <a:r>
              <a:rPr dirty="0" sz="2400" spc="-10">
                <a:latin typeface="Times New Roman"/>
                <a:cs typeface="Times New Roman"/>
              </a:rPr>
              <a:t>pertanyaan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8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95" b="0">
                <a:latin typeface="Franklin Gothic Medium"/>
                <a:cs typeface="Franklin Gothic Medium"/>
              </a:rPr>
              <a:t>Wawancara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404874"/>
            <a:ext cx="7614284" cy="442277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285115" marR="5080" indent="-273050">
              <a:lnSpc>
                <a:spcPct val="90000"/>
              </a:lnSpc>
              <a:spcBef>
                <a:spcPts val="41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55" b="1" i="1">
                <a:latin typeface="Times New Roman"/>
                <a:cs typeface="Times New Roman"/>
              </a:rPr>
              <a:t>Pertama,</a:t>
            </a:r>
            <a:r>
              <a:rPr dirty="0" sz="2600" spc="-320" b="1" i="1">
                <a:latin typeface="Times New Roman"/>
                <a:cs typeface="Times New Roman"/>
              </a:rPr>
              <a:t> </a:t>
            </a:r>
            <a:r>
              <a:rPr dirty="0" sz="2600" spc="-120">
                <a:latin typeface="Times New Roman"/>
                <a:cs typeface="Times New Roman"/>
              </a:rPr>
              <a:t>cari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20">
                <a:latin typeface="Times New Roman"/>
                <a:cs typeface="Times New Roman"/>
              </a:rPr>
              <a:t>tahu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10">
                <a:latin typeface="Times New Roman"/>
                <a:cs typeface="Times New Roman"/>
              </a:rPr>
              <a:t>tentang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25">
                <a:latin typeface="Times New Roman"/>
                <a:cs typeface="Times New Roman"/>
              </a:rPr>
              <a:t>aliran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informasi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ada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dalam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45">
                <a:latin typeface="Times New Roman"/>
                <a:cs typeface="Times New Roman"/>
              </a:rPr>
              <a:t>perusahaan</a:t>
            </a:r>
            <a:r>
              <a:rPr dirty="0" sz="2600" spc="25">
                <a:latin typeface="Times New Roman"/>
                <a:cs typeface="Times New Roman"/>
              </a:rPr>
              <a:t> </a:t>
            </a:r>
            <a:r>
              <a:rPr dirty="0" sz="2600" spc="-60">
                <a:latin typeface="Times New Roman"/>
                <a:cs typeface="Times New Roman"/>
              </a:rPr>
              <a:t>tersebut.</a:t>
            </a:r>
            <a:r>
              <a:rPr dirty="0" sz="2600" spc="-105">
                <a:latin typeface="Times New Roman"/>
                <a:cs typeface="Times New Roman"/>
              </a:rPr>
              <a:t> </a:t>
            </a:r>
            <a:r>
              <a:rPr dirty="0" sz="2600" spc="-180">
                <a:latin typeface="Times New Roman"/>
                <a:cs typeface="Times New Roman"/>
              </a:rPr>
              <a:t>Mulailah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dengan</a:t>
            </a:r>
            <a:r>
              <a:rPr dirty="0" sz="2600" spc="30">
                <a:latin typeface="Times New Roman"/>
                <a:cs typeface="Times New Roman"/>
              </a:rPr>
              <a:t> </a:t>
            </a:r>
            <a:r>
              <a:rPr dirty="0" sz="2600" spc="-125">
                <a:latin typeface="Times New Roman"/>
                <a:cs typeface="Times New Roman"/>
              </a:rPr>
              <a:t>pertanyaan-</a:t>
            </a:r>
            <a:r>
              <a:rPr dirty="0" sz="2600" spc="-40">
                <a:latin typeface="Times New Roman"/>
                <a:cs typeface="Times New Roman"/>
              </a:rPr>
              <a:t>pertanyaan </a:t>
            </a:r>
            <a:r>
              <a:rPr dirty="0" sz="2600" spc="-40">
                <a:latin typeface="Times New Roman"/>
                <a:cs typeface="Times New Roman"/>
              </a:rPr>
              <a:t>	</a:t>
            </a:r>
            <a:r>
              <a:rPr dirty="0" sz="2600" spc="-80">
                <a:latin typeface="Times New Roman"/>
                <a:cs typeface="Times New Roman"/>
              </a:rPr>
              <a:t>seperti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:</a:t>
            </a:r>
            <a:r>
              <a:rPr dirty="0" sz="2600" spc="-135">
                <a:latin typeface="Times New Roman"/>
                <a:cs typeface="Times New Roman"/>
              </a:rPr>
              <a:t> informasi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apa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95">
                <a:latin typeface="Times New Roman"/>
                <a:cs typeface="Times New Roman"/>
              </a:rPr>
              <a:t>saja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dibutuhkan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untuk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50">
                <a:latin typeface="Times New Roman"/>
                <a:cs typeface="Times New Roman"/>
              </a:rPr>
              <a:t>menjalankan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kegiatan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bisnis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perusahaan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345">
                <a:latin typeface="Times New Roman"/>
                <a:cs typeface="Times New Roman"/>
              </a:rPr>
              <a:t>?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Seberapa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penting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25">
                <a:latin typeface="Times New Roman"/>
                <a:cs typeface="Times New Roman"/>
              </a:rPr>
              <a:t>aliran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95">
                <a:latin typeface="Times New Roman"/>
                <a:cs typeface="Times New Roman"/>
              </a:rPr>
              <a:t>data,</a:t>
            </a:r>
            <a:r>
              <a:rPr dirty="0" sz="2600" spc="-135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baik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20">
                <a:latin typeface="Times New Roman"/>
                <a:cs typeface="Times New Roman"/>
              </a:rPr>
              <a:t>antara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90">
                <a:latin typeface="Times New Roman"/>
                <a:cs typeface="Times New Roman"/>
              </a:rPr>
              <a:t>departemen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maupun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00">
                <a:latin typeface="Times New Roman"/>
                <a:cs typeface="Times New Roman"/>
              </a:rPr>
              <a:t>antar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individual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395">
                <a:latin typeface="Times New Roman"/>
                <a:cs typeface="Times New Roman"/>
              </a:rPr>
              <a:t>? </a:t>
            </a:r>
            <a:r>
              <a:rPr dirty="0" sz="2600" spc="-395">
                <a:latin typeface="Times New Roman"/>
                <a:cs typeface="Times New Roman"/>
              </a:rPr>
              <a:t>	</a:t>
            </a:r>
            <a:r>
              <a:rPr dirty="0" sz="2600" spc="-170">
                <a:latin typeface="Times New Roman"/>
                <a:cs typeface="Times New Roman"/>
              </a:rPr>
              <a:t>Tentukan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10">
                <a:latin typeface="Times New Roman"/>
                <a:cs typeface="Times New Roman"/>
              </a:rPr>
              <a:t>frekuensi,</a:t>
            </a:r>
            <a:r>
              <a:rPr dirty="0" sz="2600" spc="-14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waktu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dan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55">
                <a:latin typeface="Times New Roman"/>
                <a:cs typeface="Times New Roman"/>
              </a:rPr>
              <a:t>keakuratannya.</a:t>
            </a:r>
            <a:endParaRPr sz="2600">
              <a:latin typeface="Times New Roman"/>
              <a:cs typeface="Times New Roman"/>
            </a:endParaRPr>
          </a:p>
          <a:p>
            <a:pPr marL="285115" marR="124460" indent="-273050">
              <a:lnSpc>
                <a:spcPct val="9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60" b="1" i="1">
                <a:latin typeface="Times New Roman"/>
                <a:cs typeface="Times New Roman"/>
              </a:rPr>
              <a:t>Kedua,</a:t>
            </a:r>
            <a:r>
              <a:rPr dirty="0" sz="2600" spc="-325" b="1" i="1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masukkan-</a:t>
            </a:r>
            <a:r>
              <a:rPr dirty="0" sz="2600" spc="-180">
                <a:latin typeface="Times New Roman"/>
                <a:cs typeface="Times New Roman"/>
              </a:rPr>
              <a:t>masukkan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00">
                <a:latin typeface="Times New Roman"/>
                <a:cs typeface="Times New Roman"/>
              </a:rPr>
              <a:t>diterima</a:t>
            </a:r>
            <a:r>
              <a:rPr dirty="0" sz="2600" spc="20">
                <a:latin typeface="Times New Roman"/>
                <a:cs typeface="Times New Roman"/>
              </a:rPr>
              <a:t> </a:t>
            </a:r>
            <a:r>
              <a:rPr dirty="0" sz="2600" spc="-114">
                <a:latin typeface="Times New Roman"/>
                <a:cs typeface="Times New Roman"/>
              </a:rPr>
              <a:t>diikuti</a:t>
            </a:r>
            <a:r>
              <a:rPr dirty="0" sz="2600" spc="-10">
                <a:latin typeface="Times New Roman"/>
                <a:cs typeface="Times New Roman"/>
              </a:rPr>
              <a:t> dengan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25">
                <a:latin typeface="Times New Roman"/>
                <a:cs typeface="Times New Roman"/>
              </a:rPr>
              <a:t>pertanyaan-pertanyaan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85">
                <a:latin typeface="Times New Roman"/>
                <a:cs typeface="Times New Roman"/>
              </a:rPr>
              <a:t>sebagai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80">
                <a:latin typeface="Times New Roman"/>
                <a:cs typeface="Times New Roman"/>
              </a:rPr>
              <a:t>berikut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:</a:t>
            </a:r>
            <a:r>
              <a:rPr dirty="0" sz="2600" spc="-125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Informasi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apa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saja </a:t>
            </a:r>
            <a:r>
              <a:rPr dirty="0" sz="2600" spc="-20">
                <a:latin typeface="Times New Roman"/>
                <a:cs typeface="Times New Roman"/>
              </a:rPr>
              <a:t>	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dibutuhkan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00">
                <a:latin typeface="Times New Roman"/>
                <a:cs typeface="Times New Roman"/>
              </a:rPr>
              <a:t>untuk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menghasilkan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masing-</a:t>
            </a:r>
            <a:r>
              <a:rPr dirty="0" sz="2600" spc="-185">
                <a:latin typeface="Times New Roman"/>
                <a:cs typeface="Times New Roman"/>
              </a:rPr>
              <a:t>masing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barang? </a:t>
            </a:r>
            <a:r>
              <a:rPr dirty="0" sz="2600" spc="-130">
                <a:latin typeface="Times New Roman"/>
                <a:cs typeface="Times New Roman"/>
              </a:rPr>
              <a:t>	</a:t>
            </a:r>
            <a:r>
              <a:rPr dirty="0" sz="2600" spc="-145">
                <a:latin typeface="Times New Roman"/>
                <a:cs typeface="Times New Roman"/>
              </a:rPr>
              <a:t>Informasi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apa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80">
                <a:latin typeface="Times New Roman"/>
                <a:cs typeface="Times New Roman"/>
              </a:rPr>
              <a:t>tersedia,</a:t>
            </a:r>
            <a:r>
              <a:rPr dirty="0" sz="2600" spc="-130">
                <a:latin typeface="Times New Roman"/>
                <a:cs typeface="Times New Roman"/>
              </a:rPr>
              <a:t> kapan, </a:t>
            </a:r>
            <a:r>
              <a:rPr dirty="0" sz="2600" spc="-165">
                <a:latin typeface="Times New Roman"/>
                <a:cs typeface="Times New Roman"/>
              </a:rPr>
              <a:t>dimana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345">
                <a:latin typeface="Times New Roman"/>
                <a:cs typeface="Times New Roman"/>
              </a:rPr>
              <a:t>?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Informasi-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35">
                <a:latin typeface="Times New Roman"/>
                <a:cs typeface="Times New Roman"/>
              </a:rPr>
              <a:t>informasi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baru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95">
                <a:latin typeface="Times New Roman"/>
                <a:cs typeface="Times New Roman"/>
              </a:rPr>
              <a:t>apasaja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harus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dikumpulkan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345">
                <a:latin typeface="Times New Roman"/>
                <a:cs typeface="Times New Roman"/>
              </a:rPr>
              <a:t>?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Ingat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10">
                <a:latin typeface="Times New Roman"/>
                <a:cs typeface="Times New Roman"/>
              </a:rPr>
              <a:t>tentang</a:t>
            </a:r>
            <a:r>
              <a:rPr dirty="0" sz="2600" spc="-60">
                <a:latin typeface="Times New Roman"/>
                <a:cs typeface="Times New Roman"/>
              </a:rPr>
              <a:t> </a:t>
            </a:r>
            <a:r>
              <a:rPr dirty="0" sz="2600" spc="-125">
                <a:latin typeface="Times New Roman"/>
                <a:cs typeface="Times New Roman"/>
              </a:rPr>
              <a:t>5</a:t>
            </a:r>
            <a:r>
              <a:rPr dirty="0" sz="2600" spc="-39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W</a:t>
            </a:r>
            <a:r>
              <a:rPr dirty="0" sz="2600" spc="-9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(Who,What,Where,When,Why).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701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 b="0">
                <a:latin typeface="Franklin Gothic Medium"/>
                <a:cs typeface="Franklin Gothic Medium"/>
              </a:rPr>
              <a:t>Skema</a:t>
            </a:r>
            <a:r>
              <a:rPr dirty="0" sz="4000" spc="-160" b="0">
                <a:latin typeface="Franklin Gothic Medium"/>
                <a:cs typeface="Franklin Gothic Medium"/>
              </a:rPr>
              <a:t> </a:t>
            </a:r>
            <a:r>
              <a:rPr dirty="0" sz="4000" spc="-25" b="0">
                <a:latin typeface="Franklin Gothic Medium"/>
                <a:cs typeface="Franklin Gothic Medium"/>
              </a:rPr>
              <a:t>RD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433830"/>
            <a:ext cx="7588884" cy="35934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  <a:tab pos="1251585" algn="l"/>
                <a:tab pos="2345690" algn="l"/>
              </a:tabLst>
            </a:pPr>
            <a:r>
              <a:rPr dirty="0" sz="2600" spc="-10" b="1">
                <a:latin typeface="Times New Roman"/>
                <a:cs typeface="Times New Roman"/>
              </a:rPr>
              <a:t>Pendahuluan.</a:t>
            </a:r>
            <a:r>
              <a:rPr dirty="0" sz="2600" b="1">
                <a:latin typeface="Times New Roman"/>
                <a:cs typeface="Times New Roman"/>
              </a:rPr>
              <a:t>	</a:t>
            </a:r>
            <a:r>
              <a:rPr dirty="0" sz="2600" spc="-150">
                <a:latin typeface="Times New Roman"/>
                <a:cs typeface="Times New Roman"/>
              </a:rPr>
              <a:t>Identifikasi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perusahaan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85">
                <a:latin typeface="Times New Roman"/>
                <a:cs typeface="Times New Roman"/>
              </a:rPr>
              <a:t>(user)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juga </a:t>
            </a:r>
            <a:r>
              <a:rPr dirty="0" sz="2600" spc="-20">
                <a:latin typeface="Times New Roman"/>
                <a:cs typeface="Times New Roman"/>
              </a:rPr>
              <a:t>	</a:t>
            </a:r>
            <a:r>
              <a:rPr dirty="0" sz="2600" spc="-150">
                <a:latin typeface="Times New Roman"/>
                <a:cs typeface="Times New Roman"/>
              </a:rPr>
              <a:t>penjualdimana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RD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75">
                <a:latin typeface="Times New Roman"/>
                <a:cs typeface="Times New Roman"/>
              </a:rPr>
              <a:t>tersebut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dit</a:t>
            </a:r>
            <a:r>
              <a:rPr dirty="0" sz="2600" spc="-125">
                <a:latin typeface="Times New Roman"/>
                <a:cs typeface="Times New Roman"/>
              </a:rPr>
              <a:t>u</a:t>
            </a:r>
            <a:r>
              <a:rPr dirty="0" sz="2600" spc="-105">
                <a:latin typeface="Times New Roman"/>
                <a:cs typeface="Times New Roman"/>
              </a:rPr>
              <a:t>juka</a:t>
            </a:r>
            <a:r>
              <a:rPr dirty="0" sz="2600" spc="-120">
                <a:latin typeface="Times New Roman"/>
                <a:cs typeface="Times New Roman"/>
              </a:rPr>
              <a:t>n</a:t>
            </a:r>
            <a:r>
              <a:rPr dirty="0" sz="2600" spc="70">
                <a:latin typeface="Times New Roman"/>
                <a:cs typeface="Times New Roman"/>
              </a:rPr>
              <a:t>.</a:t>
            </a:r>
            <a:r>
              <a:rPr dirty="0" sz="2600" spc="-475">
                <a:latin typeface="Times New Roman"/>
                <a:cs typeface="Times New Roman"/>
              </a:rPr>
              <a:t>T</a:t>
            </a:r>
            <a:r>
              <a:rPr dirty="0" sz="2600" spc="-105">
                <a:latin typeface="Times New Roman"/>
                <a:cs typeface="Times New Roman"/>
              </a:rPr>
              <a:t>en</a:t>
            </a:r>
            <a:r>
              <a:rPr dirty="0" sz="2600" spc="-125">
                <a:latin typeface="Times New Roman"/>
                <a:cs typeface="Times New Roman"/>
              </a:rPr>
              <a:t>t</a:t>
            </a:r>
            <a:r>
              <a:rPr dirty="0" sz="2600" spc="-105">
                <a:latin typeface="Times New Roman"/>
                <a:cs typeface="Times New Roman"/>
              </a:rPr>
              <a:t>ukan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masalah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yang </a:t>
            </a:r>
            <a:r>
              <a:rPr dirty="0" sz="2600" spc="-105">
                <a:latin typeface="Times New Roman"/>
                <a:cs typeface="Times New Roman"/>
              </a:rPr>
              <a:t>	</a:t>
            </a:r>
            <a:r>
              <a:rPr dirty="0" sz="2600" spc="-80">
                <a:latin typeface="Times New Roman"/>
                <a:cs typeface="Times New Roman"/>
              </a:rPr>
              <a:t>perlu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diselesaikan,</a:t>
            </a:r>
            <a:r>
              <a:rPr dirty="0" sz="2600" spc="-145">
                <a:latin typeface="Times New Roman"/>
                <a:cs typeface="Times New Roman"/>
              </a:rPr>
              <a:t> </a:t>
            </a:r>
            <a:r>
              <a:rPr dirty="0" sz="2600" spc="-95">
                <a:latin typeface="Times New Roman"/>
                <a:cs typeface="Times New Roman"/>
              </a:rPr>
              <a:t>latar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belakang,</a:t>
            </a:r>
            <a:r>
              <a:rPr dirty="0" sz="2600" spc="-145">
                <a:latin typeface="Times New Roman"/>
                <a:cs typeface="Times New Roman"/>
              </a:rPr>
              <a:t> </a:t>
            </a:r>
            <a:r>
              <a:rPr dirty="0" sz="2600" spc="-114">
                <a:latin typeface="Times New Roman"/>
                <a:cs typeface="Times New Roman"/>
              </a:rPr>
              <a:t>contoh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situasi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sedang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30">
                <a:latin typeface="Times New Roman"/>
                <a:cs typeface="Times New Roman"/>
              </a:rPr>
              <a:t>dihadapi,</a:t>
            </a:r>
            <a:r>
              <a:rPr dirty="0" sz="2600" spc="-110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motivasi-</a:t>
            </a:r>
            <a:r>
              <a:rPr dirty="0" sz="2600" spc="-155">
                <a:latin typeface="Times New Roman"/>
                <a:cs typeface="Times New Roman"/>
              </a:rPr>
              <a:t>motivasi</a:t>
            </a:r>
            <a:r>
              <a:rPr dirty="0" sz="2600" spc="25">
                <a:latin typeface="Times New Roman"/>
                <a:cs typeface="Times New Roman"/>
              </a:rPr>
              <a:t> </a:t>
            </a:r>
            <a:r>
              <a:rPr dirty="0" sz="2600" spc="-100">
                <a:latin typeface="Times New Roman"/>
                <a:cs typeface="Times New Roman"/>
              </a:rPr>
              <a:t>untuk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menanggulanginya,</a:t>
            </a:r>
            <a:r>
              <a:rPr dirty="0" sz="2600" spc="-7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dll. </a:t>
            </a:r>
            <a:r>
              <a:rPr dirty="0" sz="2600" spc="-20">
                <a:latin typeface="Times New Roman"/>
                <a:cs typeface="Times New Roman"/>
              </a:rPr>
              <a:t>	</a:t>
            </a:r>
            <a:r>
              <a:rPr dirty="0" sz="2600" spc="-215">
                <a:latin typeface="Times New Roman"/>
                <a:cs typeface="Times New Roman"/>
              </a:rPr>
              <a:t>Bagian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ini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digunakan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untuk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memperkenalkan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20">
                <a:latin typeface="Times New Roman"/>
                <a:cs typeface="Times New Roman"/>
              </a:rPr>
              <a:t>potensi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penjual 	kepada</a:t>
            </a:r>
            <a:r>
              <a:rPr dirty="0" sz="2600">
                <a:latin typeface="Times New Roman"/>
                <a:cs typeface="Times New Roman"/>
              </a:rPr>
              <a:t>	</a:t>
            </a:r>
            <a:r>
              <a:rPr dirty="0" sz="2600" spc="-145">
                <a:latin typeface="Times New Roman"/>
                <a:cs typeface="Times New Roman"/>
              </a:rPr>
              <a:t>perusahaan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user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atau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90">
                <a:latin typeface="Times New Roman"/>
                <a:cs typeface="Times New Roman"/>
              </a:rPr>
              <a:t>departemen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jika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diperlukan,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55">
                <a:latin typeface="Times New Roman"/>
                <a:cs typeface="Times New Roman"/>
              </a:rPr>
              <a:t>jelaskan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95">
                <a:latin typeface="Times New Roman"/>
                <a:cs typeface="Times New Roman"/>
              </a:rPr>
              <a:t>kultur,</a:t>
            </a:r>
            <a:r>
              <a:rPr dirty="0" sz="2600" spc="-110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lingkungungan,</a:t>
            </a:r>
            <a:r>
              <a:rPr dirty="0" sz="2600" spc="-100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bagaimana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85">
                <a:latin typeface="Times New Roman"/>
                <a:cs typeface="Times New Roman"/>
              </a:rPr>
              <a:t>jalannya</a:t>
            </a:r>
            <a:r>
              <a:rPr dirty="0" sz="2600" spc="5">
                <a:latin typeface="Times New Roman"/>
                <a:cs typeface="Times New Roman"/>
              </a:rPr>
              <a:t> </a:t>
            </a:r>
            <a:r>
              <a:rPr dirty="0" sz="2600" spc="-40">
                <a:latin typeface="Times New Roman"/>
                <a:cs typeface="Times New Roman"/>
              </a:rPr>
              <a:t>bisnis </a:t>
            </a:r>
            <a:r>
              <a:rPr dirty="0" sz="2600" spc="-40">
                <a:latin typeface="Times New Roman"/>
                <a:cs typeface="Times New Roman"/>
              </a:rPr>
              <a:t>	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dilakukan. </a:t>
            </a:r>
            <a:r>
              <a:rPr dirty="0" sz="2600" spc="-160">
                <a:latin typeface="Times New Roman"/>
                <a:cs typeface="Times New Roman"/>
              </a:rPr>
              <a:t>Berikan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00">
                <a:latin typeface="Times New Roman"/>
                <a:cs typeface="Times New Roman"/>
              </a:rPr>
              <a:t>pengertian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kepada</a:t>
            </a:r>
            <a:r>
              <a:rPr dirty="0" sz="2600" spc="-370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Tim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Proyek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10">
                <a:latin typeface="Times New Roman"/>
                <a:cs typeface="Times New Roman"/>
              </a:rPr>
              <a:t>tentang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85">
                <a:latin typeface="Times New Roman"/>
                <a:cs typeface="Times New Roman"/>
              </a:rPr>
              <a:t>masalah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210">
                <a:latin typeface="Times New Roman"/>
                <a:cs typeface="Times New Roman"/>
              </a:rPr>
              <a:t>yang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dihadapi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user.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701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 b="0">
                <a:latin typeface="Franklin Gothic Medium"/>
                <a:cs typeface="Franklin Gothic Medium"/>
              </a:rPr>
              <a:t>Skema</a:t>
            </a:r>
            <a:r>
              <a:rPr dirty="0" sz="4000" spc="-160" b="0">
                <a:latin typeface="Franklin Gothic Medium"/>
                <a:cs typeface="Franklin Gothic Medium"/>
              </a:rPr>
              <a:t> </a:t>
            </a:r>
            <a:r>
              <a:rPr dirty="0" sz="4000" spc="-25" b="0">
                <a:latin typeface="Franklin Gothic Medium"/>
                <a:cs typeface="Franklin Gothic Medium"/>
              </a:rPr>
              <a:t>RD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410970"/>
            <a:ext cx="7507605" cy="42418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86385" marR="131445" indent="-274320">
              <a:lnSpc>
                <a:spcPct val="90000"/>
              </a:lnSpc>
              <a:spcBef>
                <a:spcPts val="38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114" b="1">
                <a:latin typeface="Times New Roman"/>
                <a:cs typeface="Times New Roman"/>
              </a:rPr>
              <a:t>Tujuan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45" b="1">
                <a:latin typeface="Times New Roman"/>
                <a:cs typeface="Times New Roman"/>
              </a:rPr>
              <a:t>Proyek</a:t>
            </a:r>
            <a:r>
              <a:rPr dirty="0" sz="2400" spc="-45" b="1" i="1">
                <a:latin typeface="Times New Roman"/>
                <a:cs typeface="Times New Roman"/>
              </a:rPr>
              <a:t>.</a:t>
            </a:r>
            <a:r>
              <a:rPr dirty="0" sz="2400" spc="-260" b="1" i="1">
                <a:latin typeface="Times New Roman"/>
                <a:cs typeface="Times New Roman"/>
              </a:rPr>
              <a:t> </a:t>
            </a:r>
            <a:r>
              <a:rPr dirty="0" sz="2400" spc="-185">
                <a:latin typeface="Times New Roman"/>
                <a:cs typeface="Times New Roman"/>
              </a:rPr>
              <a:t>Sebuah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pernyataan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singkat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mengapa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kita </a:t>
            </a:r>
            <a:r>
              <a:rPr dirty="0" sz="2400" spc="-150">
                <a:latin typeface="Times New Roman"/>
                <a:cs typeface="Times New Roman"/>
              </a:rPr>
              <a:t>mengajukan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proposal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untuk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pengembangan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proyek. </a:t>
            </a:r>
            <a:r>
              <a:rPr dirty="0" sz="2400" spc="-10">
                <a:latin typeface="Times New Roman"/>
                <a:cs typeface="Times New Roman"/>
              </a:rPr>
              <a:t>Batasan- </a:t>
            </a:r>
            <a:r>
              <a:rPr dirty="0" sz="2400" spc="-150">
                <a:latin typeface="Times New Roman"/>
                <a:cs typeface="Times New Roman"/>
              </a:rPr>
              <a:t>batasan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utama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dalam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penggunaan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waktu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keuangan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dapat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juga </a:t>
            </a:r>
            <a:r>
              <a:rPr dirty="0" sz="2400" spc="-10">
                <a:latin typeface="Times New Roman"/>
                <a:cs typeface="Times New Roman"/>
              </a:rPr>
              <a:t>disebutkan.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ts val="2590"/>
              </a:lnSpc>
              <a:spcBef>
                <a:spcPts val="64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40" b="1">
                <a:latin typeface="Times New Roman"/>
                <a:cs typeface="Times New Roman"/>
              </a:rPr>
              <a:t>Fungsi-</a:t>
            </a:r>
            <a:r>
              <a:rPr dirty="0" sz="2400" b="1">
                <a:latin typeface="Times New Roman"/>
                <a:cs typeface="Times New Roman"/>
              </a:rPr>
              <a:t>fungsi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55" b="1">
                <a:latin typeface="Times New Roman"/>
                <a:cs typeface="Times New Roman"/>
              </a:rPr>
              <a:t>Utama</a:t>
            </a:r>
            <a:r>
              <a:rPr dirty="0" sz="2400" spc="-55" b="1" i="1">
                <a:latin typeface="Times New Roman"/>
                <a:cs typeface="Times New Roman"/>
              </a:rPr>
              <a:t>.</a:t>
            </a:r>
            <a:r>
              <a:rPr dirty="0" sz="2400" spc="-280" b="1" i="1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Pernyataan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singkat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35">
                <a:latin typeface="Times New Roman"/>
                <a:cs typeface="Times New Roman"/>
              </a:rPr>
              <a:t>mengenai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bagaimana </a:t>
            </a:r>
            <a:r>
              <a:rPr dirty="0" sz="2400" spc="-125">
                <a:latin typeface="Times New Roman"/>
                <a:cs typeface="Times New Roman"/>
              </a:rPr>
              <a:t>sistem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berfungsi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berdasarkan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tujuan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proyek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85">
                <a:latin typeface="Times New Roman"/>
                <a:cs typeface="Times New Roman"/>
              </a:rPr>
              <a:t>yang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telah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ditetapkan.</a:t>
            </a:r>
            <a:endParaRPr sz="2400">
              <a:latin typeface="Times New Roman"/>
              <a:cs typeface="Times New Roman"/>
            </a:endParaRPr>
          </a:p>
          <a:p>
            <a:pPr marL="286385" marR="285750" indent="-274320">
              <a:lnSpc>
                <a:spcPts val="259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60" b="1">
                <a:latin typeface="Times New Roman"/>
                <a:cs typeface="Times New Roman"/>
              </a:rPr>
              <a:t>Keluaran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spc="-45" b="1">
                <a:latin typeface="Times New Roman"/>
                <a:cs typeface="Times New Roman"/>
              </a:rPr>
              <a:t>Umum</a:t>
            </a:r>
            <a:r>
              <a:rPr dirty="0" sz="2400" spc="-45" b="1" i="1">
                <a:latin typeface="Times New Roman"/>
                <a:cs typeface="Times New Roman"/>
              </a:rPr>
              <a:t>.</a:t>
            </a:r>
            <a:r>
              <a:rPr dirty="0" sz="2400" spc="-275" b="1" i="1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Penjelasan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secara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singkat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tentang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informasi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dibutuhkan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dari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sistem.</a:t>
            </a:r>
            <a:endParaRPr sz="2400">
              <a:latin typeface="Times New Roman"/>
              <a:cs typeface="Times New Roman"/>
            </a:endParaRPr>
          </a:p>
          <a:p>
            <a:pPr marL="286385" marR="483870" indent="-274320">
              <a:lnSpc>
                <a:spcPct val="90000"/>
              </a:lnSpc>
              <a:spcBef>
                <a:spcPts val="56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30" b="1">
                <a:latin typeface="Times New Roman"/>
                <a:cs typeface="Times New Roman"/>
              </a:rPr>
              <a:t>Informasi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Input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45" b="1">
                <a:latin typeface="Times New Roman"/>
                <a:cs typeface="Times New Roman"/>
              </a:rPr>
              <a:t>secara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spc="-45" b="1">
                <a:latin typeface="Times New Roman"/>
                <a:cs typeface="Times New Roman"/>
              </a:rPr>
              <a:t>Umum</a:t>
            </a:r>
            <a:r>
              <a:rPr dirty="0" sz="2400" spc="-45" b="1" i="1">
                <a:latin typeface="Times New Roman"/>
                <a:cs typeface="Times New Roman"/>
              </a:rPr>
              <a:t>.</a:t>
            </a:r>
            <a:r>
              <a:rPr dirty="0" sz="2400" spc="-285" b="1" i="1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Input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data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apa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yang </a:t>
            </a:r>
            <a:r>
              <a:rPr dirty="0" sz="2400" spc="-114">
                <a:latin typeface="Times New Roman"/>
                <a:cs typeface="Times New Roman"/>
              </a:rPr>
              <a:t>diperlukan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untuk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menghasilkan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45">
                <a:latin typeface="Times New Roman"/>
                <a:cs typeface="Times New Roman"/>
              </a:rPr>
              <a:t>output.</a:t>
            </a:r>
            <a:r>
              <a:rPr dirty="0" sz="2400" spc="-135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Ini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adalah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waktu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yang </a:t>
            </a:r>
            <a:r>
              <a:rPr dirty="0" sz="2400" spc="-75">
                <a:latin typeface="Times New Roman"/>
                <a:cs typeface="Times New Roman"/>
              </a:rPr>
              <a:t>tepat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untuk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memastikan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bahwa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seluruh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data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45">
                <a:latin typeface="Times New Roman"/>
                <a:cs typeface="Times New Roman"/>
              </a:rPr>
              <a:t>dibutuhkan </a:t>
            </a:r>
            <a:r>
              <a:rPr dirty="0" sz="2400" spc="-125">
                <a:latin typeface="Times New Roman"/>
                <a:cs typeface="Times New Roman"/>
              </a:rPr>
              <a:t>dapat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tersedia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pada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waktu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tepat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pula.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22701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 b="0">
                <a:latin typeface="Franklin Gothic Medium"/>
                <a:cs typeface="Franklin Gothic Medium"/>
              </a:rPr>
              <a:t>Skema</a:t>
            </a:r>
            <a:r>
              <a:rPr dirty="0" sz="4000" spc="-160" b="0">
                <a:latin typeface="Franklin Gothic Medium"/>
                <a:cs typeface="Franklin Gothic Medium"/>
              </a:rPr>
              <a:t> </a:t>
            </a:r>
            <a:r>
              <a:rPr dirty="0" sz="4000" spc="-25" b="0">
                <a:latin typeface="Franklin Gothic Medium"/>
                <a:cs typeface="Franklin Gothic Medium"/>
              </a:rPr>
              <a:t>RD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438402"/>
            <a:ext cx="7514590" cy="4568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6385" marR="25146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80" b="1">
                <a:latin typeface="Times New Roman"/>
                <a:cs typeface="Times New Roman"/>
              </a:rPr>
              <a:t>Kinerja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70" b="1" i="1">
                <a:latin typeface="Times New Roman"/>
                <a:cs typeface="Times New Roman"/>
              </a:rPr>
              <a:t>(Performance).</a:t>
            </a:r>
            <a:r>
              <a:rPr dirty="0" sz="2400" spc="-280" b="1" i="1">
                <a:latin typeface="Times New Roman"/>
                <a:cs typeface="Times New Roman"/>
              </a:rPr>
              <a:t> </a:t>
            </a:r>
            <a:r>
              <a:rPr dirty="0" sz="2400" spc="-170">
                <a:latin typeface="Times New Roman"/>
                <a:cs typeface="Times New Roman"/>
              </a:rPr>
              <a:t>Berapa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80">
                <a:latin typeface="Times New Roman"/>
                <a:cs typeface="Times New Roman"/>
              </a:rPr>
              <a:t>banyak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transaksi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20">
                <a:latin typeface="Times New Roman"/>
                <a:cs typeface="Times New Roman"/>
              </a:rPr>
              <a:t> akan </a:t>
            </a:r>
            <a:r>
              <a:rPr dirty="0" sz="2400" spc="-95">
                <a:latin typeface="Times New Roman"/>
                <a:cs typeface="Times New Roman"/>
              </a:rPr>
              <a:t>diproses,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berapa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80">
                <a:latin typeface="Times New Roman"/>
                <a:cs typeface="Times New Roman"/>
              </a:rPr>
              <a:t>banyak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data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akan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disimpan,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kapan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80">
                <a:latin typeface="Times New Roman"/>
                <a:cs typeface="Times New Roman"/>
              </a:rPr>
              <a:t>laporan </a:t>
            </a:r>
            <a:r>
              <a:rPr dirty="0" sz="2400" spc="-125">
                <a:latin typeface="Times New Roman"/>
                <a:cs typeface="Times New Roman"/>
              </a:rPr>
              <a:t>harus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dihasilkan,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dsb.</a:t>
            </a:r>
            <a:r>
              <a:rPr dirty="0" sz="2400" spc="-145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Jelaskan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waktu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rata-</a:t>
            </a:r>
            <a:r>
              <a:rPr dirty="0" sz="2400" spc="-95">
                <a:latin typeface="Times New Roman"/>
                <a:cs typeface="Times New Roman"/>
              </a:rPr>
              <a:t>rata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10">
                <a:latin typeface="Times New Roman"/>
                <a:cs typeface="Times New Roman"/>
              </a:rPr>
              <a:t> waktu </a:t>
            </a:r>
            <a:r>
              <a:rPr dirty="0" sz="2400" spc="-155">
                <a:latin typeface="Times New Roman"/>
                <a:cs typeface="Times New Roman"/>
              </a:rPr>
              <a:t>maksimal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proses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35">
                <a:latin typeface="Times New Roman"/>
                <a:cs typeface="Times New Roman"/>
              </a:rPr>
              <a:t>(dalam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hari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atau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jam).</a:t>
            </a:r>
            <a:endParaRPr sz="2400">
              <a:latin typeface="Times New Roman"/>
              <a:cs typeface="Times New Roman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50" b="1">
                <a:latin typeface="Times New Roman"/>
                <a:cs typeface="Times New Roman"/>
              </a:rPr>
              <a:t>Perkembangan</a:t>
            </a:r>
            <a:r>
              <a:rPr dirty="0" sz="2400" spc="-10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(Growth).</a:t>
            </a:r>
            <a:r>
              <a:rPr dirty="0" sz="2400" spc="160" b="1" i="1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Hal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ini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mungkin</a:t>
            </a:r>
            <a:r>
              <a:rPr dirty="0" sz="2400" spc="-85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sulit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untuk </a:t>
            </a:r>
            <a:r>
              <a:rPr dirty="0" sz="2400" spc="-110">
                <a:latin typeface="Times New Roman"/>
                <a:cs typeface="Times New Roman"/>
              </a:rPr>
              <a:t>diramalkan,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tetapi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cobalah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90">
                <a:latin typeface="Times New Roman"/>
                <a:cs typeface="Times New Roman"/>
              </a:rPr>
              <a:t>untuk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menghitung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kemajuan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bisnis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35">
                <a:latin typeface="Times New Roman"/>
                <a:cs typeface="Times New Roman"/>
              </a:rPr>
              <a:t>dan </a:t>
            </a:r>
            <a:r>
              <a:rPr dirty="0" sz="2400" spc="-114">
                <a:latin typeface="Times New Roman"/>
                <a:cs typeface="Times New Roman"/>
              </a:rPr>
              <a:t>menetapkan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berapa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tahun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lagi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sistem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70">
                <a:latin typeface="Times New Roman"/>
                <a:cs typeface="Times New Roman"/>
              </a:rPr>
              <a:t>masih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dapat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diharapkan </a:t>
            </a:r>
            <a:r>
              <a:rPr dirty="0" sz="2400" spc="-90">
                <a:latin typeface="Times New Roman"/>
                <a:cs typeface="Times New Roman"/>
              </a:rPr>
              <a:t>untuk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berfungsi.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Kemukakan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dalam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bentuk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persentase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atau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angka </a:t>
            </a:r>
            <a:r>
              <a:rPr dirty="0" sz="2400" spc="-25">
                <a:latin typeface="Times New Roman"/>
                <a:cs typeface="Times New Roman"/>
              </a:rPr>
              <a:t>sebenarnya.</a:t>
            </a:r>
            <a:endParaRPr sz="2400">
              <a:latin typeface="Times New Roman"/>
              <a:cs typeface="Times New Roman"/>
            </a:endParaRPr>
          </a:p>
          <a:p>
            <a:pPr marL="286385" marR="733425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95" b="1" i="1">
                <a:latin typeface="Times New Roman"/>
                <a:cs typeface="Times New Roman"/>
              </a:rPr>
              <a:t>Pengoperasian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spc="-40" b="1" i="1">
                <a:latin typeface="Times New Roman"/>
                <a:cs typeface="Times New Roman"/>
              </a:rPr>
              <a:t>dan</a:t>
            </a:r>
            <a:r>
              <a:rPr dirty="0" sz="2400" spc="-20" b="1" i="1">
                <a:latin typeface="Times New Roman"/>
                <a:cs typeface="Times New Roman"/>
              </a:rPr>
              <a:t> </a:t>
            </a:r>
            <a:r>
              <a:rPr dirty="0" sz="2400" spc="-100" b="1" i="1">
                <a:latin typeface="Times New Roman"/>
                <a:cs typeface="Times New Roman"/>
              </a:rPr>
              <a:t>Lingkungan.</a:t>
            </a:r>
            <a:r>
              <a:rPr dirty="0" sz="2400" spc="-275" b="1" i="1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Dimana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komputer </a:t>
            </a:r>
            <a:r>
              <a:rPr dirty="0" sz="2400" spc="-114">
                <a:latin typeface="Times New Roman"/>
                <a:cs typeface="Times New Roman"/>
              </a:rPr>
              <a:t>akanditempatkan,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dimana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terminal-</a:t>
            </a:r>
            <a:r>
              <a:rPr dirty="0" sz="2400" spc="-85">
                <a:latin typeface="Times New Roman"/>
                <a:cs typeface="Times New Roman"/>
              </a:rPr>
              <a:t>terminal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interaktif </a:t>
            </a:r>
            <a:r>
              <a:rPr dirty="0" sz="2400" spc="-95">
                <a:latin typeface="Times New Roman"/>
                <a:cs typeface="Times New Roman"/>
              </a:rPr>
              <a:t>ditempatkan,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70">
                <a:latin typeface="Times New Roman"/>
                <a:cs typeface="Times New Roman"/>
              </a:rPr>
              <a:t>siapa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akan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menggunakannya.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38073"/>
            <a:ext cx="22701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85" b="0">
                <a:latin typeface="Franklin Gothic Medium"/>
                <a:cs typeface="Franklin Gothic Medium"/>
              </a:rPr>
              <a:t>Skema</a:t>
            </a:r>
            <a:r>
              <a:rPr dirty="0" sz="4000" spc="-160" b="0">
                <a:latin typeface="Franklin Gothic Medium"/>
                <a:cs typeface="Franklin Gothic Medium"/>
              </a:rPr>
              <a:t> </a:t>
            </a:r>
            <a:r>
              <a:rPr dirty="0" sz="4000" spc="-25" b="0">
                <a:latin typeface="Franklin Gothic Medium"/>
                <a:cs typeface="Franklin Gothic Medium"/>
              </a:rPr>
              <a:t>RD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981202"/>
            <a:ext cx="7533005" cy="529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6385" marR="5080" indent="-274320">
              <a:lnSpc>
                <a:spcPct val="100000"/>
              </a:lnSpc>
              <a:spcBef>
                <a:spcPts val="1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35" b="1">
                <a:latin typeface="Times New Roman"/>
                <a:cs typeface="Times New Roman"/>
              </a:rPr>
              <a:t>Kompatibilitas,</a:t>
            </a:r>
            <a:r>
              <a:rPr dirty="0" sz="2400" spc="-75" b="1">
                <a:latin typeface="Times New Roman"/>
                <a:cs typeface="Times New Roman"/>
              </a:rPr>
              <a:t> </a:t>
            </a:r>
            <a:r>
              <a:rPr dirty="0" sz="2400" spc="-45" b="1">
                <a:latin typeface="Times New Roman"/>
                <a:cs typeface="Times New Roman"/>
              </a:rPr>
              <a:t>Pengantarmukaan</a:t>
            </a:r>
            <a:r>
              <a:rPr dirty="0" sz="2400" spc="-45" b="1" i="1">
                <a:latin typeface="Times New Roman"/>
                <a:cs typeface="Times New Roman"/>
              </a:rPr>
              <a:t>.</a:t>
            </a:r>
            <a:r>
              <a:rPr dirty="0" sz="2400" spc="-300" b="1" i="1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Jelaskan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jika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fasilitas </a:t>
            </a:r>
            <a:r>
              <a:rPr dirty="0" sz="2400" spc="-95">
                <a:latin typeface="Times New Roman"/>
                <a:cs typeface="Times New Roman"/>
              </a:rPr>
              <a:t>antar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komputer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dibutuhkan,</a:t>
            </a:r>
            <a:r>
              <a:rPr dirty="0" sz="2400" spc="-16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adakah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alat-</a:t>
            </a:r>
            <a:r>
              <a:rPr dirty="0" sz="2400" spc="-125">
                <a:latin typeface="Times New Roman"/>
                <a:cs typeface="Times New Roman"/>
              </a:rPr>
              <a:t>alat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harus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65">
                <a:latin typeface="Times New Roman"/>
                <a:cs typeface="Times New Roman"/>
              </a:rPr>
              <a:t>disatukan, </a:t>
            </a:r>
            <a:r>
              <a:rPr dirty="0" sz="2400" spc="-125">
                <a:latin typeface="Times New Roman"/>
                <a:cs typeface="Times New Roman"/>
              </a:rPr>
              <a:t>atau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jika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pengiriman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akses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dibutuhkan.</a:t>
            </a:r>
            <a:r>
              <a:rPr dirty="0" sz="2400" spc="-160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Jika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sistem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90">
                <a:latin typeface="Times New Roman"/>
                <a:cs typeface="Times New Roman"/>
              </a:rPr>
              <a:t>hanya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dapat </a:t>
            </a:r>
            <a:r>
              <a:rPr dirty="0" sz="2400" spc="-125">
                <a:latin typeface="Times New Roman"/>
                <a:cs typeface="Times New Roman"/>
              </a:rPr>
              <a:t>berjalan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dengan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komputer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ada,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atau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harus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dapat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diprogram </a:t>
            </a:r>
            <a:r>
              <a:rPr dirty="0" sz="2400" spc="-145">
                <a:latin typeface="Times New Roman"/>
                <a:cs typeface="Times New Roman"/>
              </a:rPr>
              <a:t>dengan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85">
                <a:latin typeface="Times New Roman"/>
                <a:cs typeface="Times New Roman"/>
              </a:rPr>
              <a:t>bahasa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spesifik,</a:t>
            </a:r>
            <a:r>
              <a:rPr dirty="0" sz="2400" spc="-155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semua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dokumen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dinyatakan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di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dalam </a:t>
            </a:r>
            <a:r>
              <a:rPr dirty="0" sz="2400" spc="-155">
                <a:latin typeface="Times New Roman"/>
                <a:cs typeface="Times New Roman"/>
              </a:rPr>
              <a:t>bagian</a:t>
            </a:r>
            <a:r>
              <a:rPr dirty="0" sz="2400" spc="-20">
                <a:latin typeface="Times New Roman"/>
                <a:cs typeface="Times New Roman"/>
              </a:rPr>
              <a:t> ini.</a:t>
            </a:r>
            <a:endParaRPr sz="2400">
              <a:latin typeface="Times New Roman"/>
              <a:cs typeface="Times New Roman"/>
            </a:endParaRPr>
          </a:p>
          <a:p>
            <a:pPr marL="286385" marR="13970" indent="-27432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25" b="1" i="1">
                <a:latin typeface="Times New Roman"/>
                <a:cs typeface="Times New Roman"/>
              </a:rPr>
              <a:t>Reliabilitas,</a:t>
            </a:r>
            <a:r>
              <a:rPr dirty="0" sz="2400" spc="-235" b="1" i="1">
                <a:latin typeface="Times New Roman"/>
                <a:cs typeface="Times New Roman"/>
              </a:rPr>
              <a:t> </a:t>
            </a:r>
            <a:r>
              <a:rPr dirty="0" sz="2400" spc="-55" b="1" i="1">
                <a:latin typeface="Times New Roman"/>
                <a:cs typeface="Times New Roman"/>
              </a:rPr>
              <a:t>Ketersediaan.</a:t>
            </a:r>
            <a:r>
              <a:rPr dirty="0" sz="2400" spc="-235" b="1" i="1">
                <a:latin typeface="Times New Roman"/>
                <a:cs typeface="Times New Roman"/>
              </a:rPr>
              <a:t> </a:t>
            </a:r>
            <a:r>
              <a:rPr dirty="0" sz="2400" spc="-180">
                <a:latin typeface="Times New Roman"/>
                <a:cs typeface="Times New Roman"/>
              </a:rPr>
              <a:t>Tulis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penggambaran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waktu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diantara </a:t>
            </a:r>
            <a:r>
              <a:rPr dirty="0" sz="2400" spc="-160">
                <a:latin typeface="Times New Roman"/>
                <a:cs typeface="Times New Roman"/>
              </a:rPr>
              <a:t>kegagalan-</a:t>
            </a:r>
            <a:r>
              <a:rPr dirty="0" sz="2400" spc="-175">
                <a:latin typeface="Times New Roman"/>
                <a:cs typeface="Times New Roman"/>
              </a:rPr>
              <a:t>kegagalan</a:t>
            </a:r>
            <a:r>
              <a:rPr dirty="0" sz="2400" spc="1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(Meantime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 spc="-110">
                <a:latin typeface="Times New Roman"/>
                <a:cs typeface="Times New Roman"/>
              </a:rPr>
              <a:t>between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Failures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/MTBF),</a:t>
            </a:r>
            <a:r>
              <a:rPr dirty="0" sz="2400" spc="-90">
                <a:latin typeface="Times New Roman"/>
                <a:cs typeface="Times New Roman"/>
              </a:rPr>
              <a:t> </a:t>
            </a:r>
            <a:r>
              <a:rPr dirty="0" sz="2400" spc="-60">
                <a:latin typeface="Times New Roman"/>
                <a:cs typeface="Times New Roman"/>
              </a:rPr>
              <a:t>waktu </a:t>
            </a:r>
            <a:r>
              <a:rPr dirty="0" sz="2400" spc="-90">
                <a:latin typeface="Times New Roman"/>
                <a:cs typeface="Times New Roman"/>
              </a:rPr>
              <a:t>untuk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perbaikan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(Meantime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to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Repair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535">
                <a:latin typeface="Times New Roman"/>
                <a:cs typeface="Times New Roman"/>
              </a:rPr>
              <a:t>/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MTTR)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persentase </a:t>
            </a:r>
            <a:r>
              <a:rPr dirty="0" sz="2400" spc="-135">
                <a:latin typeface="Times New Roman"/>
                <a:cs typeface="Times New Roman"/>
              </a:rPr>
              <a:t>tambahan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diperlukan.</a:t>
            </a:r>
            <a:r>
              <a:rPr dirty="0" sz="2400" spc="-16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Semua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manufaktur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menyatakan </a:t>
            </a:r>
            <a:r>
              <a:rPr dirty="0" sz="2400" spc="-145">
                <a:latin typeface="Times New Roman"/>
                <a:cs typeface="Times New Roman"/>
              </a:rPr>
              <a:t>penggambaran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ini</a:t>
            </a:r>
            <a:r>
              <a:rPr dirty="0" sz="240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untuk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hardware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mereka.</a:t>
            </a:r>
            <a:endParaRPr sz="2400">
              <a:latin typeface="Times New Roman"/>
              <a:cs typeface="Times New Roman"/>
            </a:endParaRPr>
          </a:p>
          <a:p>
            <a:pPr marL="286385" marR="25400" indent="-27432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5416"/>
              <a:buFont typeface="Segoe UI Symbol"/>
              <a:buChar char="⚫"/>
              <a:tabLst>
                <a:tab pos="286385" algn="l"/>
              </a:tabLst>
            </a:pPr>
            <a:r>
              <a:rPr dirty="0" sz="2400" spc="-75" b="1" i="1">
                <a:latin typeface="Times New Roman"/>
                <a:cs typeface="Times New Roman"/>
              </a:rPr>
              <a:t>Pengantarmukaan</a:t>
            </a:r>
            <a:r>
              <a:rPr dirty="0" sz="2400" spc="-30" b="1" i="1">
                <a:latin typeface="Times New Roman"/>
                <a:cs typeface="Times New Roman"/>
              </a:rPr>
              <a:t> </a:t>
            </a:r>
            <a:r>
              <a:rPr dirty="0" sz="2400" spc="-90" b="1" i="1">
                <a:latin typeface="Times New Roman"/>
                <a:cs typeface="Times New Roman"/>
              </a:rPr>
              <a:t>dengan</a:t>
            </a:r>
            <a:r>
              <a:rPr dirty="0" sz="2400" spc="-30" b="1" i="1">
                <a:latin typeface="Times New Roman"/>
                <a:cs typeface="Times New Roman"/>
              </a:rPr>
              <a:t> </a:t>
            </a:r>
            <a:r>
              <a:rPr dirty="0" sz="2400" spc="-75" b="1" i="1">
                <a:latin typeface="Times New Roman"/>
                <a:cs typeface="Times New Roman"/>
              </a:rPr>
              <a:t>Pemakai.</a:t>
            </a:r>
            <a:r>
              <a:rPr dirty="0" sz="2400" spc="-300" b="1" i="1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Rincikan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30">
                <a:latin typeface="Times New Roman"/>
                <a:cs typeface="Times New Roman"/>
              </a:rPr>
              <a:t>pengalaman- </a:t>
            </a:r>
            <a:r>
              <a:rPr dirty="0" sz="2400" spc="-145">
                <a:latin typeface="Times New Roman"/>
                <a:cs typeface="Times New Roman"/>
              </a:rPr>
              <a:t>pengalaman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dibutuhkan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user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dalam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menggunakan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55">
                <a:latin typeface="Times New Roman"/>
                <a:cs typeface="Times New Roman"/>
              </a:rPr>
              <a:t>komputer, </a:t>
            </a:r>
            <a:r>
              <a:rPr dirty="0" sz="2400" spc="-145">
                <a:latin typeface="Times New Roman"/>
                <a:cs typeface="Times New Roman"/>
              </a:rPr>
              <a:t>jelaskan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75">
                <a:latin typeface="Times New Roman"/>
                <a:cs typeface="Times New Roman"/>
              </a:rPr>
              <a:t>bagaimana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menangani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sistem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65">
                <a:latin typeface="Times New Roman"/>
                <a:cs typeface="Times New Roman"/>
              </a:rPr>
              <a:t>kapada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95">
                <a:latin typeface="Times New Roman"/>
                <a:cs typeface="Times New Roman"/>
              </a:rPr>
              <a:t>user</a:t>
            </a:r>
            <a:r>
              <a:rPr dirty="0" sz="2400" spc="-5">
                <a:latin typeface="Times New Roman"/>
                <a:cs typeface="Times New Roman"/>
              </a:rPr>
              <a:t> </a:t>
            </a:r>
            <a:r>
              <a:rPr dirty="0" sz="2400" spc="-185">
                <a:latin typeface="Times New Roman"/>
                <a:cs typeface="Times New Roman"/>
              </a:rPr>
              <a:t>yang</a:t>
            </a:r>
            <a:r>
              <a:rPr dirty="0" sz="2400" spc="-10">
                <a:latin typeface="Times New Roman"/>
                <a:cs typeface="Times New Roman"/>
              </a:rPr>
              <a:t> baru.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324358"/>
            <a:ext cx="204660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80" b="0">
                <a:latin typeface="Franklin Gothic Medium"/>
                <a:cs typeface="Franklin Gothic Medium"/>
              </a:rPr>
              <a:t>Skema</a:t>
            </a:r>
            <a:r>
              <a:rPr dirty="0" sz="3600" spc="-130" b="0">
                <a:latin typeface="Franklin Gothic Medium"/>
                <a:cs typeface="Franklin Gothic Medium"/>
              </a:rPr>
              <a:t> </a:t>
            </a:r>
            <a:r>
              <a:rPr dirty="0" sz="3600" spc="-25" b="0">
                <a:latin typeface="Franklin Gothic Medium"/>
                <a:cs typeface="Franklin Gothic Medium"/>
              </a:rPr>
              <a:t>RD</a:t>
            </a:r>
            <a:endParaRPr sz="36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976630"/>
            <a:ext cx="7560945" cy="46145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40" b="1">
                <a:latin typeface="Times New Roman"/>
                <a:cs typeface="Times New Roman"/>
              </a:rPr>
              <a:t>Pengaruh</a:t>
            </a:r>
            <a:r>
              <a:rPr dirty="0" sz="2600" spc="-30" b="1">
                <a:latin typeface="Times New Roman"/>
                <a:cs typeface="Times New Roman"/>
              </a:rPr>
              <a:t> </a:t>
            </a:r>
            <a:r>
              <a:rPr dirty="0" sz="2600" spc="-55" b="1">
                <a:latin typeface="Times New Roman"/>
                <a:cs typeface="Times New Roman"/>
              </a:rPr>
              <a:t>Organisasi</a:t>
            </a:r>
            <a:r>
              <a:rPr dirty="0" sz="2600" spc="-55" b="1" i="1">
                <a:latin typeface="Times New Roman"/>
                <a:cs typeface="Times New Roman"/>
              </a:rPr>
              <a:t>.</a:t>
            </a:r>
            <a:r>
              <a:rPr dirty="0" sz="2600" spc="-295" b="1" i="1">
                <a:latin typeface="Times New Roman"/>
                <a:cs typeface="Times New Roman"/>
              </a:rPr>
              <a:t> </a:t>
            </a:r>
            <a:r>
              <a:rPr dirty="0" sz="2600" spc="-95">
                <a:latin typeface="Times New Roman"/>
                <a:cs typeface="Times New Roman"/>
              </a:rPr>
              <a:t>Departemen-</a:t>
            </a:r>
            <a:r>
              <a:rPr dirty="0" sz="2600" spc="-90">
                <a:latin typeface="Times New Roman"/>
                <a:cs typeface="Times New Roman"/>
              </a:rPr>
              <a:t>departemen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apa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20">
                <a:latin typeface="Times New Roman"/>
                <a:cs typeface="Times New Roman"/>
              </a:rPr>
              <a:t>yang </a:t>
            </a:r>
            <a:r>
              <a:rPr dirty="0" sz="2600" spc="-20">
                <a:latin typeface="Times New Roman"/>
                <a:cs typeface="Times New Roman"/>
              </a:rPr>
              <a:t>	</a:t>
            </a:r>
            <a:r>
              <a:rPr dirty="0" sz="2600" spc="-180">
                <a:latin typeface="Times New Roman"/>
                <a:cs typeface="Times New Roman"/>
              </a:rPr>
              <a:t>akan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sangat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berpengaruh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dan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seberapa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-165">
                <a:latin typeface="Times New Roman"/>
                <a:cs typeface="Times New Roman"/>
              </a:rPr>
              <a:t>jauh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cara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kerja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75">
                <a:latin typeface="Times New Roman"/>
                <a:cs typeface="Times New Roman"/>
              </a:rPr>
              <a:t>mereka </a:t>
            </a:r>
            <a:r>
              <a:rPr dirty="0" sz="2600" spc="-75">
                <a:latin typeface="Times New Roman"/>
                <a:cs typeface="Times New Roman"/>
              </a:rPr>
              <a:t>	</a:t>
            </a:r>
            <a:r>
              <a:rPr dirty="0" sz="2600" spc="-130">
                <a:latin typeface="Times New Roman"/>
                <a:cs typeface="Times New Roman"/>
              </a:rPr>
              <a:t>harus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95">
                <a:latin typeface="Times New Roman"/>
                <a:cs typeface="Times New Roman"/>
              </a:rPr>
              <a:t>berubah.</a:t>
            </a:r>
            <a:r>
              <a:rPr dirty="0" sz="2600" spc="-135">
                <a:latin typeface="Times New Roman"/>
                <a:cs typeface="Times New Roman"/>
              </a:rPr>
              <a:t> </a:t>
            </a:r>
            <a:r>
              <a:rPr dirty="0" sz="2600" spc="-225">
                <a:latin typeface="Times New Roman"/>
                <a:cs typeface="Times New Roman"/>
              </a:rPr>
              <a:t>Bagaimana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sistem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210">
                <a:latin typeface="Times New Roman"/>
                <a:cs typeface="Times New Roman"/>
              </a:rPr>
              <a:t>yang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95">
                <a:latin typeface="Times New Roman"/>
                <a:cs typeface="Times New Roman"/>
              </a:rPr>
              <a:t>baru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dapat </a:t>
            </a:r>
            <a:r>
              <a:rPr dirty="0" sz="2600" spc="-10">
                <a:latin typeface="Times New Roman"/>
                <a:cs typeface="Times New Roman"/>
              </a:rPr>
              <a:t>	</a:t>
            </a:r>
            <a:r>
              <a:rPr dirty="0" sz="2600" spc="-140">
                <a:latin typeface="Times New Roman"/>
                <a:cs typeface="Times New Roman"/>
              </a:rPr>
              <a:t>berkomunikasi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dengan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sistem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manual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25">
                <a:latin typeface="Times New Roman"/>
                <a:cs typeface="Times New Roman"/>
              </a:rPr>
              <a:t> ada</a:t>
            </a:r>
            <a:endParaRPr sz="2600">
              <a:latin typeface="Times New Roman"/>
              <a:cs typeface="Times New Roman"/>
            </a:endParaRPr>
          </a:p>
          <a:p>
            <a:pPr marL="285115" marR="46990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55" b="1">
                <a:latin typeface="Times New Roman"/>
                <a:cs typeface="Times New Roman"/>
              </a:rPr>
              <a:t>Pemeliharaan</a:t>
            </a:r>
            <a:r>
              <a:rPr dirty="0" sz="2600" spc="-4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dan</a:t>
            </a:r>
            <a:r>
              <a:rPr dirty="0" sz="2600" spc="-45" b="1">
                <a:latin typeface="Times New Roman"/>
                <a:cs typeface="Times New Roman"/>
              </a:rPr>
              <a:t> </a:t>
            </a:r>
            <a:r>
              <a:rPr dirty="0" sz="2600" spc="-10" b="1">
                <a:latin typeface="Times New Roman"/>
                <a:cs typeface="Times New Roman"/>
              </a:rPr>
              <a:t>Dukungan</a:t>
            </a:r>
            <a:r>
              <a:rPr dirty="0" sz="2600" spc="-10" b="1" i="1">
                <a:latin typeface="Times New Roman"/>
                <a:cs typeface="Times New Roman"/>
              </a:rPr>
              <a:t>.</a:t>
            </a:r>
            <a:r>
              <a:rPr dirty="0" sz="2600" spc="-325" b="1" i="1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Jaminan-</a:t>
            </a:r>
            <a:r>
              <a:rPr dirty="0" sz="2600" spc="-165">
                <a:latin typeface="Times New Roman"/>
                <a:cs typeface="Times New Roman"/>
              </a:rPr>
              <a:t>jaminan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14">
                <a:latin typeface="Times New Roman"/>
                <a:cs typeface="Times New Roman"/>
              </a:rPr>
              <a:t>yang </a:t>
            </a:r>
            <a:r>
              <a:rPr dirty="0" sz="2600" spc="-114">
                <a:latin typeface="Times New Roman"/>
                <a:cs typeface="Times New Roman"/>
              </a:rPr>
              <a:t>	</a:t>
            </a:r>
            <a:r>
              <a:rPr dirty="0" sz="2600" spc="-130">
                <a:latin typeface="Times New Roman"/>
                <a:cs typeface="Times New Roman"/>
              </a:rPr>
              <a:t>dibutuhkan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:</a:t>
            </a:r>
            <a:r>
              <a:rPr dirty="0" sz="2600" spc="-130">
                <a:latin typeface="Times New Roman"/>
                <a:cs typeface="Times New Roman"/>
              </a:rPr>
              <a:t> berapa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20">
                <a:latin typeface="Times New Roman"/>
                <a:cs typeface="Times New Roman"/>
              </a:rPr>
              <a:t>lama,</a:t>
            </a:r>
            <a:r>
              <a:rPr dirty="0" sz="2600" spc="-125">
                <a:latin typeface="Times New Roman"/>
                <a:cs typeface="Times New Roman"/>
              </a:rPr>
              <a:t> </a:t>
            </a:r>
            <a:r>
              <a:rPr dirty="0" sz="2600" spc="-180">
                <a:latin typeface="Times New Roman"/>
                <a:cs typeface="Times New Roman"/>
              </a:rPr>
              <a:t>sampai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kapan,</a:t>
            </a:r>
            <a:r>
              <a:rPr dirty="0" sz="2600" spc="-135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bagaimana </a:t>
            </a:r>
            <a:r>
              <a:rPr dirty="0" sz="2600" spc="-50">
                <a:latin typeface="Times New Roman"/>
                <a:cs typeface="Times New Roman"/>
              </a:rPr>
              <a:t>	</a:t>
            </a:r>
            <a:r>
              <a:rPr dirty="0" sz="2600" spc="-25">
                <a:latin typeface="Times New Roman"/>
                <a:cs typeface="Times New Roman"/>
              </a:rPr>
              <a:t>pengiriman</a:t>
            </a:r>
            <a:endParaRPr sz="2600">
              <a:latin typeface="Times New Roman"/>
              <a:cs typeface="Times New Roman"/>
            </a:endParaRPr>
          </a:p>
          <a:p>
            <a:pPr marL="285115" marR="12573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b="1">
                <a:latin typeface="Times New Roman"/>
                <a:cs typeface="Times New Roman"/>
              </a:rPr>
              <a:t>Dokumentasi</a:t>
            </a:r>
            <a:r>
              <a:rPr dirty="0" sz="2600" spc="-60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dan</a:t>
            </a:r>
            <a:r>
              <a:rPr dirty="0" sz="2600" spc="-50" b="1">
                <a:latin typeface="Times New Roman"/>
                <a:cs typeface="Times New Roman"/>
              </a:rPr>
              <a:t> </a:t>
            </a:r>
            <a:r>
              <a:rPr dirty="0" sz="2600" spc="-45" b="1">
                <a:latin typeface="Times New Roman"/>
                <a:cs typeface="Times New Roman"/>
              </a:rPr>
              <a:t>Pelatihan</a:t>
            </a:r>
            <a:r>
              <a:rPr dirty="0" sz="2600" spc="-45" b="1" i="1">
                <a:latin typeface="Times New Roman"/>
                <a:cs typeface="Times New Roman"/>
              </a:rPr>
              <a:t>.</a:t>
            </a:r>
            <a:r>
              <a:rPr dirty="0" sz="2600" spc="-310" b="1" i="1">
                <a:latin typeface="Times New Roman"/>
                <a:cs typeface="Times New Roman"/>
              </a:rPr>
              <a:t> </a:t>
            </a:r>
            <a:r>
              <a:rPr dirty="0" sz="2600" spc="-160">
                <a:latin typeface="Times New Roman"/>
                <a:cs typeface="Times New Roman"/>
              </a:rPr>
              <a:t>Rincikan</a:t>
            </a:r>
            <a:r>
              <a:rPr dirty="0" sz="2600" spc="-50">
                <a:latin typeface="Times New Roman"/>
                <a:cs typeface="Times New Roman"/>
              </a:rPr>
              <a:t> </a:t>
            </a:r>
            <a:r>
              <a:rPr dirty="0" sz="2600" spc="-170">
                <a:latin typeface="Times New Roman"/>
                <a:cs typeface="Times New Roman"/>
              </a:rPr>
              <a:t>semua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85">
                <a:latin typeface="Times New Roman"/>
                <a:cs typeface="Times New Roman"/>
              </a:rPr>
              <a:t>dokumen- </a:t>
            </a:r>
            <a:r>
              <a:rPr dirty="0" sz="2600" spc="-85">
                <a:latin typeface="Times New Roman"/>
                <a:cs typeface="Times New Roman"/>
              </a:rPr>
              <a:t>	</a:t>
            </a:r>
            <a:r>
              <a:rPr dirty="0" sz="2600" spc="-135">
                <a:latin typeface="Times New Roman"/>
                <a:cs typeface="Times New Roman"/>
              </a:rPr>
              <a:t>dokumen</a:t>
            </a:r>
            <a:r>
              <a:rPr dirty="0" sz="2600" spc="-55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umum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45">
                <a:latin typeface="Times New Roman"/>
                <a:cs typeface="Times New Roman"/>
              </a:rPr>
              <a:t> </a:t>
            </a:r>
            <a:r>
              <a:rPr dirty="0" sz="2600" spc="570">
                <a:latin typeface="Times New Roman"/>
                <a:cs typeface="Times New Roman"/>
              </a:rPr>
              <a:t>/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40">
                <a:latin typeface="Times New Roman"/>
                <a:cs typeface="Times New Roman"/>
              </a:rPr>
              <a:t>atau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pelatihan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yang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dibutuhkan.</a:t>
            </a:r>
            <a:endParaRPr sz="2600">
              <a:latin typeface="Times New Roman"/>
              <a:cs typeface="Times New Roman"/>
            </a:endParaRPr>
          </a:p>
          <a:p>
            <a:pPr marL="285115" marR="807720" indent="-27305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80" b="1">
                <a:latin typeface="Times New Roman"/>
                <a:cs typeface="Times New Roman"/>
              </a:rPr>
              <a:t>Persyaratan</a:t>
            </a:r>
            <a:r>
              <a:rPr dirty="0" sz="2600" spc="-65" b="1">
                <a:latin typeface="Times New Roman"/>
                <a:cs typeface="Times New Roman"/>
              </a:rPr>
              <a:t> </a:t>
            </a:r>
            <a:r>
              <a:rPr dirty="0" sz="2600" b="1">
                <a:latin typeface="Times New Roman"/>
                <a:cs typeface="Times New Roman"/>
              </a:rPr>
              <a:t>dan</a:t>
            </a:r>
            <a:r>
              <a:rPr dirty="0" sz="2600" spc="-35" b="1">
                <a:latin typeface="Times New Roman"/>
                <a:cs typeface="Times New Roman"/>
              </a:rPr>
              <a:t> </a:t>
            </a:r>
            <a:r>
              <a:rPr dirty="0" sz="2600" spc="-30" b="1">
                <a:latin typeface="Times New Roman"/>
                <a:cs typeface="Times New Roman"/>
              </a:rPr>
              <a:t>Kondisi</a:t>
            </a:r>
            <a:r>
              <a:rPr dirty="0" sz="2600" spc="-30" b="1" i="1">
                <a:latin typeface="Times New Roman"/>
                <a:cs typeface="Times New Roman"/>
              </a:rPr>
              <a:t>.</a:t>
            </a:r>
            <a:r>
              <a:rPr dirty="0" sz="2600" spc="-305" b="1" i="1">
                <a:latin typeface="Times New Roman"/>
                <a:cs typeface="Times New Roman"/>
              </a:rPr>
              <a:t> </a:t>
            </a:r>
            <a:r>
              <a:rPr dirty="0" sz="2600" spc="-185">
                <a:latin typeface="Times New Roman"/>
                <a:cs typeface="Times New Roman"/>
              </a:rPr>
              <a:t>Menyatakan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syarat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40">
                <a:latin typeface="Times New Roman"/>
                <a:cs typeface="Times New Roman"/>
              </a:rPr>
              <a:t>untuk </a:t>
            </a:r>
            <a:r>
              <a:rPr dirty="0" sz="2600" spc="-40">
                <a:latin typeface="Times New Roman"/>
                <a:cs typeface="Times New Roman"/>
              </a:rPr>
              <a:t>	</a:t>
            </a:r>
            <a:r>
              <a:rPr dirty="0" sz="2600" spc="-125">
                <a:latin typeface="Times New Roman"/>
                <a:cs typeface="Times New Roman"/>
              </a:rPr>
              <a:t>seleksi,</a:t>
            </a:r>
            <a:r>
              <a:rPr dirty="0" sz="2600" spc="-155">
                <a:latin typeface="Times New Roman"/>
                <a:cs typeface="Times New Roman"/>
              </a:rPr>
              <a:t> </a:t>
            </a:r>
            <a:r>
              <a:rPr dirty="0" sz="2600" spc="-175">
                <a:latin typeface="Times New Roman"/>
                <a:cs typeface="Times New Roman"/>
              </a:rPr>
              <a:t>kapan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 spc="-150">
                <a:latin typeface="Times New Roman"/>
                <a:cs typeface="Times New Roman"/>
              </a:rPr>
              <a:t>dan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190">
                <a:latin typeface="Times New Roman"/>
                <a:cs typeface="Times New Roman"/>
              </a:rPr>
              <a:t>bagaimana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180">
                <a:latin typeface="Times New Roman"/>
                <a:cs typeface="Times New Roman"/>
              </a:rPr>
              <a:t>akan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dilakukan.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8952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120"/>
              <a:t>KEPUTUSAN</a:t>
            </a:r>
            <a:r>
              <a:rPr dirty="0" spc="-155"/>
              <a:t> </a:t>
            </a:r>
            <a:r>
              <a:rPr dirty="0" spc="-95"/>
              <a:t>MELAKSANAKAN</a:t>
            </a:r>
            <a:r>
              <a:rPr dirty="0" spc="-155"/>
              <a:t> </a:t>
            </a:r>
            <a:r>
              <a:rPr dirty="0" spc="170"/>
              <a:t>/</a:t>
            </a:r>
            <a:r>
              <a:rPr dirty="0" spc="-125"/>
              <a:t> </a:t>
            </a:r>
            <a:r>
              <a:rPr dirty="0" spc="-105"/>
              <a:t>TIDAK </a:t>
            </a:r>
            <a:r>
              <a:rPr dirty="0" spc="-100"/>
              <a:t>MELAKSANAKAN</a:t>
            </a:r>
            <a:r>
              <a:rPr dirty="0" spc="-105"/>
              <a:t> </a:t>
            </a:r>
            <a:r>
              <a:rPr dirty="0" spc="-10"/>
              <a:t>PROYEK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3444" y="1433830"/>
            <a:ext cx="7505065" cy="3307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z="2600" spc="-155">
                <a:latin typeface="Times New Roman"/>
                <a:cs typeface="Times New Roman"/>
              </a:rPr>
              <a:t>Setelah</a:t>
            </a:r>
            <a:r>
              <a:rPr dirty="0" sz="2600" spc="70">
                <a:latin typeface="Times New Roman"/>
                <a:cs typeface="Times New Roman"/>
              </a:rPr>
              <a:t> </a:t>
            </a:r>
            <a:r>
              <a:rPr dirty="0" sz="2600" spc="-130">
                <a:latin typeface="Times New Roman"/>
                <a:cs typeface="Times New Roman"/>
              </a:rPr>
              <a:t>kebutuhan-</a:t>
            </a:r>
            <a:r>
              <a:rPr dirty="0" sz="2600" spc="-145">
                <a:latin typeface="Times New Roman"/>
                <a:cs typeface="Times New Roman"/>
              </a:rPr>
              <a:t>kebutuhan</a:t>
            </a:r>
            <a:r>
              <a:rPr dirty="0" sz="2600" spc="35">
                <a:latin typeface="Times New Roman"/>
                <a:cs typeface="Times New Roman"/>
              </a:rPr>
              <a:t> </a:t>
            </a:r>
            <a:r>
              <a:rPr dirty="0" sz="2600" spc="-110">
                <a:latin typeface="Times New Roman"/>
                <a:cs typeface="Times New Roman"/>
              </a:rPr>
              <a:t>ditetapkan,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80">
                <a:latin typeface="Times New Roman"/>
                <a:cs typeface="Times New Roman"/>
              </a:rPr>
              <a:t>langkah</a:t>
            </a:r>
            <a:r>
              <a:rPr dirty="0" sz="2600" spc="60">
                <a:latin typeface="Times New Roman"/>
                <a:cs typeface="Times New Roman"/>
              </a:rPr>
              <a:t> </a:t>
            </a:r>
            <a:r>
              <a:rPr dirty="0" sz="2600" spc="-90">
                <a:latin typeface="Times New Roman"/>
                <a:cs typeface="Times New Roman"/>
              </a:rPr>
              <a:t>berikutnya </a:t>
            </a:r>
            <a:r>
              <a:rPr dirty="0" sz="2600" spc="-90">
                <a:latin typeface="Times New Roman"/>
                <a:cs typeface="Times New Roman"/>
              </a:rPr>
              <a:t>	</a:t>
            </a:r>
            <a:r>
              <a:rPr dirty="0" sz="2600" spc="-190">
                <a:latin typeface="Times New Roman"/>
                <a:cs typeface="Times New Roman"/>
              </a:rPr>
              <a:t>adalah</a:t>
            </a:r>
            <a:r>
              <a:rPr dirty="0" sz="2600" spc="25">
                <a:latin typeface="Times New Roman"/>
                <a:cs typeface="Times New Roman"/>
              </a:rPr>
              <a:t> </a:t>
            </a:r>
            <a:r>
              <a:rPr dirty="0" sz="2600" spc="-145">
                <a:latin typeface="Times New Roman"/>
                <a:cs typeface="Times New Roman"/>
              </a:rPr>
              <a:t>memutuskan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200">
                <a:latin typeface="Times New Roman"/>
                <a:cs typeface="Times New Roman"/>
              </a:rPr>
              <a:t>apakah</a:t>
            </a:r>
            <a:r>
              <a:rPr dirty="0" sz="2600" spc="35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proyek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10">
                <a:latin typeface="Times New Roman"/>
                <a:cs typeface="Times New Roman"/>
              </a:rPr>
              <a:t>bernilai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0">
                <a:latin typeface="Times New Roman"/>
                <a:cs typeface="Times New Roman"/>
              </a:rPr>
              <a:t>untuk</a:t>
            </a:r>
            <a:r>
              <a:rPr dirty="0" sz="2600" spc="10">
                <a:latin typeface="Times New Roman"/>
                <a:cs typeface="Times New Roman"/>
              </a:rPr>
              <a:t> </a:t>
            </a:r>
            <a:r>
              <a:rPr dirty="0" sz="2600" spc="-65">
                <a:latin typeface="Times New Roman"/>
                <a:cs typeface="Times New Roman"/>
              </a:rPr>
              <a:t>dikerjakan </a:t>
            </a:r>
            <a:r>
              <a:rPr dirty="0" sz="2600" spc="-65">
                <a:latin typeface="Times New Roman"/>
                <a:cs typeface="Times New Roman"/>
              </a:rPr>
              <a:t>	</a:t>
            </a:r>
            <a:r>
              <a:rPr dirty="0" sz="2600" spc="-140">
                <a:latin typeface="Times New Roman"/>
                <a:cs typeface="Times New Roman"/>
              </a:rPr>
              <a:t>atau</a:t>
            </a:r>
            <a:r>
              <a:rPr dirty="0" sz="2600" spc="-30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tidak.</a:t>
            </a:r>
            <a:endParaRPr sz="2600">
              <a:latin typeface="Times New Roman"/>
              <a:cs typeface="Times New Roman"/>
            </a:endParaRPr>
          </a:p>
          <a:p>
            <a:pPr algn="just" marL="285750" indent="-273050">
              <a:lnSpc>
                <a:spcPct val="100000"/>
              </a:lnSpc>
              <a:spcBef>
                <a:spcPts val="600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 sz="2600" spc="-195">
                <a:latin typeface="Times New Roman"/>
                <a:cs typeface="Times New Roman"/>
              </a:rPr>
              <a:t>Menjawab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135">
                <a:latin typeface="Times New Roman"/>
                <a:cs typeface="Times New Roman"/>
              </a:rPr>
              <a:t>pertanyaan</a:t>
            </a:r>
            <a:r>
              <a:rPr dirty="0" sz="2600" spc="30">
                <a:latin typeface="Times New Roman"/>
                <a:cs typeface="Times New Roman"/>
              </a:rPr>
              <a:t> </a:t>
            </a:r>
            <a:r>
              <a:rPr dirty="0" sz="2600" spc="-50"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  <a:p>
            <a:pPr lvl="1" marL="560070" indent="-231775">
              <a:lnSpc>
                <a:spcPct val="100000"/>
              </a:lnSpc>
              <a:spcBef>
                <a:spcPts val="43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dirty="0" sz="2400" spc="-150">
                <a:latin typeface="Times New Roman"/>
                <a:cs typeface="Times New Roman"/>
              </a:rPr>
              <a:t>Dapatkah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sistem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ini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dibangun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40">
                <a:latin typeface="Times New Roman"/>
                <a:cs typeface="Times New Roman"/>
              </a:rPr>
              <a:t>secara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teknis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37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lvl="1" marL="560705" marR="1230630" indent="-232410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705" algn="l"/>
              </a:tabLst>
            </a:pPr>
            <a:r>
              <a:rPr dirty="0" sz="2400" spc="-155">
                <a:latin typeface="Times New Roman"/>
                <a:cs typeface="Times New Roman"/>
              </a:rPr>
              <a:t>Dengan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0">
                <a:latin typeface="Times New Roman"/>
                <a:cs typeface="Times New Roman"/>
              </a:rPr>
              <a:t>biaya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20">
                <a:latin typeface="Times New Roman"/>
                <a:cs typeface="Times New Roman"/>
              </a:rPr>
              <a:t>berapa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sistem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dapat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dibangun,</a:t>
            </a:r>
            <a:r>
              <a:rPr dirty="0" sz="2400" spc="-15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 spc="-70">
                <a:latin typeface="Times New Roman"/>
                <a:cs typeface="Times New Roman"/>
              </a:rPr>
              <a:t>apa </a:t>
            </a:r>
            <a:r>
              <a:rPr dirty="0" sz="2400" spc="-135">
                <a:latin typeface="Times New Roman"/>
                <a:cs typeface="Times New Roman"/>
              </a:rPr>
              <a:t>keuntungannya</a:t>
            </a:r>
            <a:r>
              <a:rPr dirty="0" sz="2400" spc="-70">
                <a:latin typeface="Times New Roman"/>
                <a:cs typeface="Times New Roman"/>
              </a:rPr>
              <a:t> </a:t>
            </a:r>
            <a:r>
              <a:rPr dirty="0" sz="2400" spc="-37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  <a:p>
            <a:pPr lvl="1" marL="560070" indent="-231775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dirty="0" sz="2400" spc="-130">
                <a:latin typeface="Times New Roman"/>
                <a:cs typeface="Times New Roman"/>
              </a:rPr>
              <a:t>Cukup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25">
                <a:latin typeface="Times New Roman"/>
                <a:cs typeface="Times New Roman"/>
              </a:rPr>
              <a:t>waktu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dan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saat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75">
                <a:latin typeface="Times New Roman"/>
                <a:cs typeface="Times New Roman"/>
              </a:rPr>
              <a:t>tepat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370">
                <a:latin typeface="Times New Roman"/>
                <a:cs typeface="Times New Roman"/>
              </a:rPr>
              <a:t>?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41319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45" b="0">
                <a:latin typeface="Franklin Gothic Medium"/>
                <a:cs typeface="Franklin Gothic Medium"/>
              </a:rPr>
              <a:t>Manajemen</a:t>
            </a:r>
            <a:r>
              <a:rPr dirty="0" sz="4000" spc="-175" b="0">
                <a:latin typeface="Franklin Gothic Medium"/>
                <a:cs typeface="Franklin Gothic Medium"/>
              </a:rPr>
              <a:t> </a:t>
            </a:r>
            <a:r>
              <a:rPr dirty="0" sz="4000" spc="-45" b="0">
                <a:latin typeface="Franklin Gothic Medium"/>
                <a:cs typeface="Franklin Gothic Medium"/>
              </a:rPr>
              <a:t>Resiko</a:t>
            </a:r>
            <a:endParaRPr sz="4000">
              <a:latin typeface="Franklin Gothic Medium"/>
              <a:cs typeface="Franklin Gothic Medium"/>
            </a:endParaRP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6385" algn="l"/>
              </a:tabLst>
            </a:pPr>
            <a:r>
              <a:rPr dirty="0" spc="-155"/>
              <a:t>Setiap</a:t>
            </a:r>
            <a:r>
              <a:rPr dirty="0" spc="-25"/>
              <a:t> </a:t>
            </a:r>
            <a:r>
              <a:rPr dirty="0" spc="-150"/>
              <a:t>proyek</a:t>
            </a:r>
            <a:r>
              <a:rPr dirty="0" spc="-45"/>
              <a:t> </a:t>
            </a:r>
            <a:r>
              <a:rPr dirty="0" spc="-180"/>
              <a:t>akan</a:t>
            </a:r>
            <a:r>
              <a:rPr dirty="0" spc="-45"/>
              <a:t> </a:t>
            </a:r>
            <a:r>
              <a:rPr dirty="0" spc="-85"/>
              <a:t>tepat</a:t>
            </a:r>
            <a:r>
              <a:rPr dirty="0" spc="-40"/>
              <a:t> </a:t>
            </a:r>
            <a:r>
              <a:rPr dirty="0" spc="-130"/>
              <a:t>waktu</a:t>
            </a:r>
            <a:r>
              <a:rPr dirty="0" spc="-45"/>
              <a:t> </a:t>
            </a:r>
            <a:r>
              <a:rPr dirty="0" spc="-150"/>
              <a:t>dan</a:t>
            </a:r>
            <a:r>
              <a:rPr dirty="0" spc="-45"/>
              <a:t> </a:t>
            </a:r>
            <a:r>
              <a:rPr dirty="0" spc="-165"/>
              <a:t>sesuai</a:t>
            </a:r>
            <a:r>
              <a:rPr dirty="0" spc="-50"/>
              <a:t> </a:t>
            </a:r>
            <a:r>
              <a:rPr dirty="0" spc="-165"/>
              <a:t>anggaran</a:t>
            </a:r>
            <a:r>
              <a:rPr dirty="0" spc="-20"/>
              <a:t> </a:t>
            </a:r>
            <a:r>
              <a:rPr dirty="0" spc="-165"/>
              <a:t>jika</a:t>
            </a:r>
            <a:r>
              <a:rPr dirty="0" spc="-30"/>
              <a:t> </a:t>
            </a:r>
            <a:r>
              <a:rPr dirty="0" spc="-55"/>
              <a:t>tidak </a:t>
            </a:r>
            <a:r>
              <a:rPr dirty="0" spc="-55"/>
              <a:t>	</a:t>
            </a:r>
            <a:r>
              <a:rPr dirty="0" spc="-190"/>
              <a:t>ada</a:t>
            </a:r>
            <a:r>
              <a:rPr dirty="0" spc="-35"/>
              <a:t> </a:t>
            </a:r>
            <a:r>
              <a:rPr dirty="0" spc="-200"/>
              <a:t>yang</a:t>
            </a:r>
            <a:r>
              <a:rPr dirty="0" spc="-30"/>
              <a:t> </a:t>
            </a:r>
            <a:r>
              <a:rPr dirty="0" spc="-135"/>
              <a:t>salah.</a:t>
            </a:r>
            <a:r>
              <a:rPr dirty="0" spc="-145"/>
              <a:t> </a:t>
            </a:r>
            <a:r>
              <a:rPr dirty="0" spc="-140"/>
              <a:t>Penting</a:t>
            </a:r>
            <a:r>
              <a:rPr dirty="0" spc="-20"/>
              <a:t> </a:t>
            </a:r>
            <a:r>
              <a:rPr dirty="0" spc="-165"/>
              <a:t>sekali</a:t>
            </a:r>
            <a:r>
              <a:rPr dirty="0" spc="-25"/>
              <a:t> </a:t>
            </a:r>
            <a:r>
              <a:rPr dirty="0" spc="-100"/>
              <a:t>untuk</a:t>
            </a:r>
            <a:r>
              <a:rPr dirty="0" spc="-25"/>
              <a:t> </a:t>
            </a:r>
            <a:r>
              <a:rPr dirty="0" spc="-120"/>
              <a:t>berkosentrasi</a:t>
            </a:r>
            <a:r>
              <a:rPr dirty="0" spc="-45"/>
              <a:t> </a:t>
            </a:r>
            <a:r>
              <a:rPr dirty="0" spc="-175"/>
              <a:t>pada</a:t>
            </a:r>
            <a:r>
              <a:rPr dirty="0" spc="-25"/>
              <a:t> </a:t>
            </a:r>
            <a:r>
              <a:rPr dirty="0" spc="-20"/>
              <a:t>hal- </a:t>
            </a:r>
            <a:r>
              <a:rPr dirty="0" spc="-20"/>
              <a:t>	</a:t>
            </a:r>
            <a:r>
              <a:rPr dirty="0" spc="-170"/>
              <a:t>hal</a:t>
            </a:r>
            <a:r>
              <a:rPr dirty="0" spc="-30"/>
              <a:t> </a:t>
            </a:r>
            <a:r>
              <a:rPr dirty="0" spc="-204"/>
              <a:t>yang</a:t>
            </a:r>
            <a:r>
              <a:rPr dirty="0" spc="-25"/>
              <a:t> </a:t>
            </a:r>
            <a:r>
              <a:rPr dirty="0" spc="-180"/>
              <a:t>akan</a:t>
            </a:r>
            <a:r>
              <a:rPr dirty="0" spc="-35"/>
              <a:t> </a:t>
            </a:r>
            <a:r>
              <a:rPr dirty="0" spc="-170"/>
              <a:t>menyebabkan</a:t>
            </a:r>
            <a:r>
              <a:rPr dirty="0" spc="-45"/>
              <a:t> </a:t>
            </a:r>
            <a:r>
              <a:rPr dirty="0" spc="-190"/>
              <a:t>salah</a:t>
            </a:r>
            <a:r>
              <a:rPr dirty="0" spc="-35"/>
              <a:t> </a:t>
            </a:r>
            <a:r>
              <a:rPr dirty="0" spc="-150"/>
              <a:t>dan</a:t>
            </a:r>
            <a:r>
              <a:rPr dirty="0" spc="-35"/>
              <a:t> </a:t>
            </a:r>
            <a:r>
              <a:rPr dirty="0" spc="-165"/>
              <a:t>coba</a:t>
            </a:r>
            <a:r>
              <a:rPr dirty="0" spc="-25"/>
              <a:t> </a:t>
            </a:r>
            <a:r>
              <a:rPr dirty="0" spc="-10"/>
              <a:t>untuk </a:t>
            </a:r>
            <a:r>
              <a:rPr dirty="0" spc="-10"/>
              <a:t>	</a:t>
            </a:r>
            <a:r>
              <a:rPr dirty="0" spc="-135"/>
              <a:t>menghindari</a:t>
            </a:r>
            <a:r>
              <a:rPr dirty="0"/>
              <a:t> </a:t>
            </a:r>
            <a:r>
              <a:rPr dirty="0" spc="-165"/>
              <a:t>kesalahan-</a:t>
            </a:r>
            <a:r>
              <a:rPr dirty="0" spc="-180"/>
              <a:t>kesalahan</a:t>
            </a:r>
            <a:r>
              <a:rPr dirty="0" spc="-60"/>
              <a:t> tersebut.</a:t>
            </a:r>
            <a:r>
              <a:rPr dirty="0" spc="-140"/>
              <a:t> </a:t>
            </a:r>
            <a:r>
              <a:rPr dirty="0" spc="-160"/>
              <a:t>Hal</a:t>
            </a:r>
            <a:r>
              <a:rPr dirty="0" spc="-25"/>
              <a:t> </a:t>
            </a:r>
            <a:r>
              <a:rPr dirty="0" spc="-135"/>
              <a:t>ini</a:t>
            </a:r>
            <a:r>
              <a:rPr dirty="0" spc="-25"/>
              <a:t> </a:t>
            </a:r>
            <a:r>
              <a:rPr dirty="0" spc="-10"/>
              <a:t>disebut </a:t>
            </a:r>
            <a:r>
              <a:rPr dirty="0" spc="-10"/>
              <a:t>	</a:t>
            </a:r>
            <a:r>
              <a:rPr dirty="0" spc="-160"/>
              <a:t>Manajemen</a:t>
            </a:r>
            <a:r>
              <a:rPr dirty="0" spc="-85"/>
              <a:t> </a:t>
            </a:r>
            <a:r>
              <a:rPr dirty="0" spc="-10"/>
              <a:t>Risiko.</a:t>
            </a:r>
          </a:p>
          <a:p>
            <a:pPr marL="285750" indent="-273050">
              <a:lnSpc>
                <a:spcPct val="100000"/>
              </a:lnSpc>
              <a:spcBef>
                <a:spcPts val="605"/>
              </a:spcBef>
              <a:buClr>
                <a:srgbClr val="D24717"/>
              </a:buClr>
              <a:buSzPct val="84615"/>
              <a:buFont typeface="Segoe UI Symbol"/>
              <a:buChar char="⚫"/>
              <a:tabLst>
                <a:tab pos="285750" algn="l"/>
              </a:tabLst>
            </a:pPr>
            <a:r>
              <a:rPr dirty="0" spc="-170"/>
              <a:t>Manajemen</a:t>
            </a:r>
            <a:r>
              <a:rPr dirty="0" spc="-60"/>
              <a:t> </a:t>
            </a:r>
            <a:r>
              <a:rPr dirty="0" spc="-125"/>
              <a:t>risiko</a:t>
            </a:r>
            <a:r>
              <a:rPr dirty="0" spc="-45"/>
              <a:t> </a:t>
            </a:r>
            <a:r>
              <a:rPr dirty="0" spc="-50"/>
              <a:t>terdiri</a:t>
            </a:r>
            <a:r>
              <a:rPr dirty="0" spc="-35"/>
              <a:t> </a:t>
            </a:r>
            <a:r>
              <a:rPr dirty="0" spc="-100"/>
              <a:t>dari</a:t>
            </a:r>
            <a:r>
              <a:rPr dirty="0" spc="-35"/>
              <a:t> </a:t>
            </a:r>
            <a:r>
              <a:rPr dirty="0" spc="-120"/>
              <a:t>empat</a:t>
            </a:r>
            <a:r>
              <a:rPr dirty="0" spc="-30"/>
              <a:t> </a:t>
            </a:r>
            <a:r>
              <a:rPr dirty="0" spc="-180"/>
              <a:t>langkah</a:t>
            </a:r>
            <a:r>
              <a:rPr dirty="0" spc="-45"/>
              <a:t> </a:t>
            </a:r>
            <a:r>
              <a:rPr dirty="0" spc="-50"/>
              <a:t>:</a:t>
            </a:r>
          </a:p>
          <a:p>
            <a:pPr lvl="1" marL="560070" indent="-231775">
              <a:lnSpc>
                <a:spcPct val="100000"/>
              </a:lnSpc>
              <a:spcBef>
                <a:spcPts val="42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dirty="0" sz="2400" spc="-185">
                <a:latin typeface="Times New Roman"/>
                <a:cs typeface="Times New Roman"/>
              </a:rPr>
              <a:t>Langkah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1.</a:t>
            </a:r>
            <a:r>
              <a:rPr dirty="0" sz="2400" spc="-335">
                <a:latin typeface="Times New Roman"/>
                <a:cs typeface="Times New Roman"/>
              </a:rPr>
              <a:t> </a:t>
            </a:r>
            <a:r>
              <a:rPr dirty="0" sz="2400" spc="-145">
                <a:latin typeface="Times New Roman"/>
                <a:cs typeface="Times New Roman"/>
              </a:rPr>
              <a:t>Antisipasi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risiko</a:t>
            </a:r>
            <a:endParaRPr sz="2400">
              <a:latin typeface="Times New Roman"/>
              <a:cs typeface="Times New Roman"/>
            </a:endParaRPr>
          </a:p>
          <a:p>
            <a:pPr lvl="1" marL="560070" indent="-231775">
              <a:lnSpc>
                <a:spcPct val="100000"/>
              </a:lnSpc>
              <a:spcBef>
                <a:spcPts val="395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dirty="0" sz="2400" spc="-185">
                <a:latin typeface="Times New Roman"/>
                <a:cs typeface="Times New Roman"/>
              </a:rPr>
              <a:t>Langkah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2.</a:t>
            </a:r>
            <a:r>
              <a:rPr dirty="0" sz="2400" spc="-145">
                <a:latin typeface="Times New Roman"/>
                <a:cs typeface="Times New Roman"/>
              </a:rPr>
              <a:t> Singkirkan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risiko</a:t>
            </a:r>
            <a:r>
              <a:rPr dirty="0" sz="2400" spc="-55">
                <a:latin typeface="Times New Roman"/>
                <a:cs typeface="Times New Roman"/>
              </a:rPr>
              <a:t> </a:t>
            </a:r>
            <a:r>
              <a:rPr dirty="0" sz="2400" spc="-195">
                <a:latin typeface="Times New Roman"/>
                <a:cs typeface="Times New Roman"/>
              </a:rPr>
              <a:t>yang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50">
                <a:latin typeface="Times New Roman"/>
                <a:cs typeface="Times New Roman"/>
              </a:rPr>
              <a:t>mungkin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terjadi</a:t>
            </a:r>
            <a:endParaRPr sz="2400">
              <a:latin typeface="Times New Roman"/>
              <a:cs typeface="Times New Roman"/>
            </a:endParaRPr>
          </a:p>
          <a:p>
            <a:pPr lvl="1" marL="560070" indent="-231775">
              <a:lnSpc>
                <a:spcPct val="100000"/>
              </a:lnSpc>
              <a:spcBef>
                <a:spcPts val="409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dirty="0" sz="2400" spc="-185">
                <a:latin typeface="Times New Roman"/>
                <a:cs typeface="Times New Roman"/>
              </a:rPr>
              <a:t>Langkah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3.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 spc="-155">
                <a:latin typeface="Times New Roman"/>
                <a:cs typeface="Times New Roman"/>
              </a:rPr>
              <a:t>Kurangi</a:t>
            </a:r>
            <a:r>
              <a:rPr dirty="0" sz="2400" spc="-30">
                <a:latin typeface="Times New Roman"/>
                <a:cs typeface="Times New Roman"/>
              </a:rPr>
              <a:t> </a:t>
            </a:r>
            <a:r>
              <a:rPr dirty="0" sz="2400" spc="-160">
                <a:latin typeface="Times New Roman"/>
                <a:cs typeface="Times New Roman"/>
              </a:rPr>
              <a:t>dampak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risiko</a:t>
            </a:r>
            <a:endParaRPr sz="2400">
              <a:latin typeface="Times New Roman"/>
              <a:cs typeface="Times New Roman"/>
            </a:endParaRPr>
          </a:p>
          <a:p>
            <a:pPr lvl="1" marL="560070" indent="-231775">
              <a:lnSpc>
                <a:spcPct val="100000"/>
              </a:lnSpc>
              <a:spcBef>
                <a:spcPts val="400"/>
              </a:spcBef>
              <a:buClr>
                <a:srgbClr val="9B2C1F"/>
              </a:buClr>
              <a:buSzPct val="85416"/>
              <a:buFont typeface="Segoe UI Symbol"/>
              <a:buChar char="⚫"/>
              <a:tabLst>
                <a:tab pos="560070" algn="l"/>
              </a:tabLst>
            </a:pPr>
            <a:r>
              <a:rPr dirty="0" sz="2400" spc="-185">
                <a:latin typeface="Times New Roman"/>
                <a:cs typeface="Times New Roman"/>
              </a:rPr>
              <a:t>Langkah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0">
                <a:latin typeface="Times New Roman"/>
                <a:cs typeface="Times New Roman"/>
              </a:rPr>
              <a:t>4.Tetap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114">
                <a:latin typeface="Times New Roman"/>
                <a:cs typeface="Times New Roman"/>
              </a:rPr>
              <a:t>tenang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30">
                <a:latin typeface="Times New Roman"/>
                <a:cs typeface="Times New Roman"/>
              </a:rPr>
              <a:t>ketika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85">
                <a:latin typeface="Times New Roman"/>
                <a:cs typeface="Times New Roman"/>
              </a:rPr>
              <a:t>terjadi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40">
                <a:latin typeface="Times New Roman"/>
                <a:cs typeface="Times New Roman"/>
              </a:rPr>
              <a:t>kesalahan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4007" y="70103"/>
            <a:ext cx="9013190" cy="6693534"/>
          </a:xfrm>
          <a:custGeom>
            <a:avLst/>
            <a:gdLst/>
            <a:ahLst/>
            <a:cxnLst/>
            <a:rect l="l" t="t" r="r" b="b"/>
            <a:pathLst>
              <a:path w="9013190" h="6693534">
                <a:moveTo>
                  <a:pt x="0" y="329946"/>
                </a:moveTo>
                <a:lnTo>
                  <a:pt x="3577" y="281184"/>
                </a:lnTo>
                <a:lnTo>
                  <a:pt x="13968" y="234645"/>
                </a:lnTo>
                <a:lnTo>
                  <a:pt x="30664" y="190840"/>
                </a:lnTo>
                <a:lnTo>
                  <a:pt x="53153" y="150277"/>
                </a:lnTo>
                <a:lnTo>
                  <a:pt x="80925" y="113468"/>
                </a:lnTo>
                <a:lnTo>
                  <a:pt x="113469" y="80923"/>
                </a:lnTo>
                <a:lnTo>
                  <a:pt x="150276" y="53151"/>
                </a:lnTo>
                <a:lnTo>
                  <a:pt x="190835" y="30662"/>
                </a:lnTo>
                <a:lnTo>
                  <a:pt x="234636" y="13967"/>
                </a:lnTo>
                <a:lnTo>
                  <a:pt x="281168" y="3576"/>
                </a:lnTo>
                <a:lnTo>
                  <a:pt x="329920" y="0"/>
                </a:lnTo>
                <a:lnTo>
                  <a:pt x="8682990" y="0"/>
                </a:lnTo>
                <a:lnTo>
                  <a:pt x="8731751" y="3576"/>
                </a:lnTo>
                <a:lnTo>
                  <a:pt x="8778290" y="13967"/>
                </a:lnTo>
                <a:lnTo>
                  <a:pt x="8822095" y="30662"/>
                </a:lnTo>
                <a:lnTo>
                  <a:pt x="8862658" y="53151"/>
                </a:lnTo>
                <a:lnTo>
                  <a:pt x="8899467" y="80923"/>
                </a:lnTo>
                <a:lnTo>
                  <a:pt x="8932012" y="113468"/>
                </a:lnTo>
                <a:lnTo>
                  <a:pt x="8959784" y="150277"/>
                </a:lnTo>
                <a:lnTo>
                  <a:pt x="8982273" y="190840"/>
                </a:lnTo>
                <a:lnTo>
                  <a:pt x="8998968" y="234645"/>
                </a:lnTo>
                <a:lnTo>
                  <a:pt x="9009359" y="281184"/>
                </a:lnTo>
                <a:lnTo>
                  <a:pt x="9012936" y="329946"/>
                </a:lnTo>
                <a:lnTo>
                  <a:pt x="9012936" y="6363487"/>
                </a:lnTo>
                <a:lnTo>
                  <a:pt x="9009359" y="6412239"/>
                </a:lnTo>
                <a:lnTo>
                  <a:pt x="8998968" y="6458771"/>
                </a:lnTo>
                <a:lnTo>
                  <a:pt x="8982273" y="6502571"/>
                </a:lnTo>
                <a:lnTo>
                  <a:pt x="8959784" y="6543130"/>
                </a:lnTo>
                <a:lnTo>
                  <a:pt x="8932012" y="6579937"/>
                </a:lnTo>
                <a:lnTo>
                  <a:pt x="8899467" y="6612482"/>
                </a:lnTo>
                <a:lnTo>
                  <a:pt x="8862658" y="6640254"/>
                </a:lnTo>
                <a:lnTo>
                  <a:pt x="8822095" y="6662742"/>
                </a:lnTo>
                <a:lnTo>
                  <a:pt x="8778290" y="6679438"/>
                </a:lnTo>
                <a:lnTo>
                  <a:pt x="8731751" y="6689829"/>
                </a:lnTo>
                <a:lnTo>
                  <a:pt x="8682990" y="6693406"/>
                </a:lnTo>
                <a:lnTo>
                  <a:pt x="329920" y="6693406"/>
                </a:lnTo>
                <a:lnTo>
                  <a:pt x="281168" y="6689829"/>
                </a:lnTo>
                <a:lnTo>
                  <a:pt x="234636" y="6679438"/>
                </a:lnTo>
                <a:lnTo>
                  <a:pt x="190835" y="6662742"/>
                </a:lnTo>
                <a:lnTo>
                  <a:pt x="150276" y="6640254"/>
                </a:lnTo>
                <a:lnTo>
                  <a:pt x="113469" y="6612482"/>
                </a:lnTo>
                <a:lnTo>
                  <a:pt x="80925" y="6579937"/>
                </a:lnTo>
                <a:lnTo>
                  <a:pt x="53153" y="6543130"/>
                </a:lnTo>
                <a:lnTo>
                  <a:pt x="30664" y="6502571"/>
                </a:lnTo>
                <a:lnTo>
                  <a:pt x="13968" y="6458771"/>
                </a:lnTo>
                <a:lnTo>
                  <a:pt x="3577" y="6412239"/>
                </a:lnTo>
                <a:lnTo>
                  <a:pt x="0" y="6363487"/>
                </a:lnTo>
                <a:lnTo>
                  <a:pt x="0" y="329946"/>
                </a:lnTo>
                <a:close/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3444" y="688974"/>
            <a:ext cx="15779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 b="0">
                <a:latin typeface="Franklin Gothic Medium"/>
                <a:cs typeface="Franklin Gothic Medium"/>
              </a:rPr>
              <a:t>Selesai</a:t>
            </a:r>
            <a:endParaRPr sz="40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Lumyde</dc:creator>
  <dc:title>Memahami Kebutuhan User (Fase Definisi)</dc:title>
  <dcterms:created xsi:type="dcterms:W3CDTF">2025-08-20T16:21:55Z</dcterms:created>
  <dcterms:modified xsi:type="dcterms:W3CDTF">2025-08-20T16:21:55Z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2017-01-29T00:00:00Z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2025-08-20T00:00:00Z</vt:filetime>
  </property>
  <property fmtid="{D5CDD505-2E9C-101B-9397-08002B2CF9AE}" pid="5" name="Producer">
    <vt:lpwstr>Microsoft® PowerPoint® 2013</vt:lpwstr>
  </property>
</Properties>
</file>