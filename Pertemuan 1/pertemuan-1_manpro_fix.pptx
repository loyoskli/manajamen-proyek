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906000" cy="6858000"/>
  <p:notesSz cx="9906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8194" y="1372361"/>
            <a:ext cx="9878695" cy="5080"/>
          </a:xfrm>
          <a:custGeom>
            <a:avLst/>
            <a:gdLst/>
            <a:ahLst/>
            <a:cxnLst/>
            <a:rect l="l" t="t" r="r" b="b"/>
            <a:pathLst>
              <a:path w="9878695" h="5080">
                <a:moveTo>
                  <a:pt x="0" y="0"/>
                </a:moveTo>
                <a:lnTo>
                  <a:pt x="9878567" y="4572"/>
                </a:lnTo>
              </a:path>
            </a:pathLst>
          </a:custGeom>
          <a:ln w="50292">
            <a:solidFill>
              <a:srgbClr val="FB00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293" y="293319"/>
            <a:ext cx="9519412" cy="10946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465" y="1364360"/>
            <a:ext cx="9166859" cy="4655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98398" y="6571832"/>
            <a:ext cx="1627505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585464" y="6571832"/>
            <a:ext cx="319024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24798" y="6571832"/>
            <a:ext cx="65024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1" y="4039361"/>
            <a:ext cx="9906000" cy="0"/>
          </a:xfrm>
          <a:custGeom>
            <a:avLst/>
            <a:gdLst/>
            <a:ahLst/>
            <a:cxnLst/>
            <a:rect l="l" t="t" r="r" b="b"/>
            <a:pathLst>
              <a:path w="9906000" h="0">
                <a:moveTo>
                  <a:pt x="0" y="0"/>
                </a:moveTo>
                <a:lnTo>
                  <a:pt x="9906000" y="0"/>
                </a:lnTo>
              </a:path>
            </a:pathLst>
          </a:custGeom>
          <a:ln w="50292">
            <a:solidFill>
              <a:srgbClr val="FB00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5655" y="1949272"/>
            <a:ext cx="44024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Manajemen</a:t>
            </a:r>
            <a:r>
              <a:rPr dirty="0" sz="4000" spc="-215"/>
              <a:t> </a:t>
            </a:r>
            <a:r>
              <a:rPr dirty="0" sz="4000" spc="-10"/>
              <a:t>Proyek</a:t>
            </a:r>
            <a:endParaRPr sz="40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3403" y="441959"/>
            <a:ext cx="2727960" cy="10698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559" rIns="0" bIns="0" rtlCol="0" vert="horz">
            <a:spAutoFit/>
          </a:bodyPr>
          <a:lstStyle/>
          <a:p>
            <a:pPr marL="3701415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Overview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5525" rIns="0" bIns="0" rtlCol="0" vert="horz">
            <a:spAutoFit/>
          </a:bodyPr>
          <a:lstStyle/>
          <a:p>
            <a:pPr marL="835025">
              <a:lnSpc>
                <a:spcPct val="100000"/>
              </a:lnSpc>
              <a:spcBef>
                <a:spcPts val="775"/>
              </a:spcBef>
            </a:pPr>
            <a:r>
              <a:rPr dirty="0" sz="2800" b="0">
                <a:latin typeface="Arial MT"/>
                <a:cs typeface="Arial MT"/>
              </a:rPr>
              <a:t>Beberapa</a:t>
            </a:r>
            <a:r>
              <a:rPr dirty="0" sz="2800" spc="-105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pertanyaan:</a:t>
            </a:r>
            <a:endParaRPr sz="2800">
              <a:latin typeface="Arial MT"/>
              <a:cs typeface="Arial MT"/>
            </a:endParaRPr>
          </a:p>
          <a:p>
            <a:pPr marL="1323975" marR="252729" indent="-489584">
              <a:lnSpc>
                <a:spcPct val="100000"/>
              </a:lnSpc>
              <a:spcBef>
                <a:spcPts val="675"/>
              </a:spcBef>
              <a:buSzPct val="50000"/>
              <a:buFont typeface="Wingdings"/>
              <a:buChar char=""/>
              <a:tabLst>
                <a:tab pos="1324610" algn="l"/>
              </a:tabLst>
            </a:pPr>
            <a:r>
              <a:rPr dirty="0" sz="2800" b="0">
                <a:latin typeface="Arial MT"/>
                <a:cs typeface="Arial MT"/>
              </a:rPr>
              <a:t>Apa</a:t>
            </a:r>
            <a:r>
              <a:rPr dirty="0" sz="2800" spc="-55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saja</a:t>
            </a:r>
            <a:r>
              <a:rPr dirty="0" sz="2800" spc="-60" b="0">
                <a:latin typeface="Arial MT"/>
                <a:cs typeface="Arial MT"/>
              </a:rPr>
              <a:t> </a:t>
            </a:r>
            <a:r>
              <a:rPr dirty="0" sz="2800" spc="-20" b="0">
                <a:latin typeface="Arial MT"/>
                <a:cs typeface="Arial MT"/>
              </a:rPr>
              <a:t>komponen-</a:t>
            </a:r>
            <a:r>
              <a:rPr dirty="0" sz="2800" b="0">
                <a:latin typeface="Arial MT"/>
                <a:cs typeface="Arial MT"/>
              </a:rPr>
              <a:t>komponen</a:t>
            </a:r>
            <a:r>
              <a:rPr dirty="0" sz="2800" spc="-25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dari</a:t>
            </a:r>
            <a:r>
              <a:rPr dirty="0" sz="2800" spc="-50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manajemen proyek?</a:t>
            </a:r>
            <a:endParaRPr sz="2800">
              <a:latin typeface="Arial MT"/>
              <a:cs typeface="Arial MT"/>
            </a:endParaRPr>
          </a:p>
          <a:p>
            <a:pPr marL="1323975" marR="626745" indent="-489584">
              <a:lnSpc>
                <a:spcPct val="100000"/>
              </a:lnSpc>
              <a:spcBef>
                <a:spcPts val="670"/>
              </a:spcBef>
              <a:buSzPct val="50000"/>
              <a:buFont typeface="Wingdings"/>
              <a:buChar char=""/>
              <a:tabLst>
                <a:tab pos="1324610" algn="l"/>
              </a:tabLst>
            </a:pPr>
            <a:r>
              <a:rPr dirty="0" sz="2800" b="0">
                <a:latin typeface="Arial MT"/>
                <a:cs typeface="Arial MT"/>
              </a:rPr>
              <a:t>Bagaimana</a:t>
            </a:r>
            <a:r>
              <a:rPr dirty="0" sz="2800" spc="-11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perencanaan</a:t>
            </a:r>
            <a:r>
              <a:rPr dirty="0" sz="2800" spc="-11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membantu</a:t>
            </a:r>
            <a:r>
              <a:rPr dirty="0" sz="2800" spc="-105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di</a:t>
            </a:r>
            <a:r>
              <a:rPr dirty="0" sz="2800" spc="-125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dalam </a:t>
            </a:r>
            <a:r>
              <a:rPr dirty="0" sz="2800" b="0">
                <a:latin typeface="Arial MT"/>
                <a:cs typeface="Arial MT"/>
              </a:rPr>
              <a:t>pengelolaan</a:t>
            </a:r>
            <a:r>
              <a:rPr dirty="0" sz="2800" spc="-8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sumber</a:t>
            </a:r>
            <a:r>
              <a:rPr dirty="0" sz="2800" spc="-10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daya</a:t>
            </a:r>
            <a:r>
              <a:rPr dirty="0" sz="2800" spc="-105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proyek?</a:t>
            </a:r>
            <a:endParaRPr sz="2800">
              <a:latin typeface="Arial MT"/>
              <a:cs typeface="Arial MT"/>
            </a:endParaRPr>
          </a:p>
          <a:p>
            <a:pPr marL="1323975" marR="5080" indent="-489584">
              <a:lnSpc>
                <a:spcPct val="100000"/>
              </a:lnSpc>
              <a:spcBef>
                <a:spcPts val="675"/>
              </a:spcBef>
              <a:buSzPct val="50000"/>
              <a:buFont typeface="Wingdings"/>
              <a:buChar char=""/>
              <a:tabLst>
                <a:tab pos="1324610" algn="l"/>
              </a:tabLst>
            </a:pPr>
            <a:r>
              <a:rPr dirty="0" sz="2800" b="0">
                <a:latin typeface="Arial MT"/>
                <a:cs typeface="Arial MT"/>
              </a:rPr>
              <a:t>Apakah</a:t>
            </a:r>
            <a:r>
              <a:rPr dirty="0" sz="2800" spc="-10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peranan</a:t>
            </a:r>
            <a:r>
              <a:rPr dirty="0" sz="2800" spc="-9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perencanaan</a:t>
            </a:r>
            <a:r>
              <a:rPr dirty="0" sz="2800" spc="-85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(planning)</a:t>
            </a:r>
            <a:r>
              <a:rPr dirty="0" sz="2800" spc="-90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didalam </a:t>
            </a:r>
            <a:r>
              <a:rPr dirty="0" sz="2800" b="0">
                <a:latin typeface="Arial MT"/>
                <a:cs typeface="Arial MT"/>
              </a:rPr>
              <a:t>memfasilitasi</a:t>
            </a:r>
            <a:r>
              <a:rPr dirty="0" sz="2800" spc="-17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pengembangan</a:t>
            </a:r>
            <a:r>
              <a:rPr dirty="0" sz="2800" spc="-135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software?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791" y="441959"/>
            <a:ext cx="2615184" cy="10698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559" rIns="0" bIns="0" rtlCol="0" vert="horz">
            <a:spAutoFit/>
          </a:bodyPr>
          <a:lstStyle/>
          <a:p>
            <a:pPr marL="3757929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Bahasan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151026" y="1613179"/>
            <a:ext cx="7210425" cy="1562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501650" indent="-488950">
              <a:lnSpc>
                <a:spcPct val="100000"/>
              </a:lnSpc>
              <a:spcBef>
                <a:spcPts val="775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 P’s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0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Manajemen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Proyek</a:t>
            </a:r>
            <a:r>
              <a:rPr dirty="0" sz="28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(Management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Project)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5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Perencanaan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Proyek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(Project</a:t>
            </a:r>
            <a:r>
              <a:rPr dirty="0" sz="28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Planning)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2791" rIns="0" bIns="0" rtlCol="0" vert="horz">
            <a:spAutoFit/>
          </a:bodyPr>
          <a:lstStyle/>
          <a:p>
            <a:pPr marL="275653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4</a:t>
            </a:r>
            <a:r>
              <a:rPr dirty="0" sz="4000" spc="-100"/>
              <a:t> </a:t>
            </a:r>
            <a:r>
              <a:rPr dirty="0" sz="4000"/>
              <a:t>Dimensi</a:t>
            </a:r>
            <a:r>
              <a:rPr dirty="0" sz="4000" spc="-80"/>
              <a:t> </a:t>
            </a:r>
            <a:r>
              <a:rPr dirty="0" sz="4000" spc="-10"/>
              <a:t>Proyek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9" y="1484375"/>
            <a:ext cx="2340864" cy="12252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808" y="1773935"/>
            <a:ext cx="2106167" cy="9966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21967" y="2699766"/>
            <a:ext cx="11791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70929" y="2728341"/>
            <a:ext cx="13322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3576" y="4149852"/>
            <a:ext cx="2028444" cy="117348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124702" y="5322823"/>
            <a:ext cx="20021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3227" y="4149852"/>
            <a:ext cx="1793748" cy="115062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475994" y="5308498"/>
            <a:ext cx="14198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55903" y="1701799"/>
            <a:ext cx="8255000" cy="3268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650" marR="559435" indent="-489584"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D17373"/>
                </a:solidFill>
                <a:latin typeface="Arial MT"/>
                <a:cs typeface="Arial MT"/>
              </a:rPr>
              <a:t>People</a:t>
            </a:r>
            <a:r>
              <a:rPr dirty="0" sz="2800" spc="-60">
                <a:solidFill>
                  <a:srgbClr val="D17373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elemen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terpenting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dari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kesuksesan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suatu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proyek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0"/>
              </a:spcBef>
              <a:buClr>
                <a:srgbClr val="FFFFFF"/>
              </a:buClr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D17373"/>
                </a:solidFill>
                <a:latin typeface="Arial MT"/>
                <a:cs typeface="Arial MT"/>
              </a:rPr>
              <a:t>Product</a:t>
            </a:r>
            <a:r>
              <a:rPr dirty="0" sz="2800" spc="-60">
                <a:solidFill>
                  <a:srgbClr val="D17373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sistem</a:t>
            </a:r>
            <a:r>
              <a:rPr dirty="0" sz="28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yang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akan</a:t>
            </a:r>
            <a:r>
              <a:rPr dirty="0" sz="28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dibangun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5"/>
              </a:spcBef>
              <a:buClr>
                <a:srgbClr val="FFFFFF"/>
              </a:buClr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D17373"/>
                </a:solidFill>
                <a:latin typeface="Arial MT"/>
                <a:cs typeface="Arial MT"/>
              </a:rPr>
              <a:t>Process</a:t>
            </a:r>
            <a:r>
              <a:rPr dirty="0" sz="2800" spc="-100">
                <a:solidFill>
                  <a:srgbClr val="D17373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Sekumpulan</a:t>
            </a:r>
            <a:r>
              <a:rPr dirty="0" sz="2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i="1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r>
              <a:rPr dirty="0" sz="2800" spc="-8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i="1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r>
              <a:rPr dirty="0" sz="2800" spc="-8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dan</a:t>
            </a:r>
            <a:endParaRPr sz="2800">
              <a:latin typeface="Arial MT"/>
              <a:cs typeface="Arial MT"/>
            </a:endParaRPr>
          </a:p>
          <a:p>
            <a:pPr marL="501650">
              <a:lnSpc>
                <a:spcPct val="100000"/>
              </a:lnSpc>
              <a:tabLst>
                <a:tab pos="3493135" algn="l"/>
              </a:tabLst>
            </a:pPr>
            <a:r>
              <a:rPr dirty="0" sz="2800" i="1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dirty="0" sz="2800" spc="-10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0" i="1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r>
              <a:rPr dirty="0" sz="2800" i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agar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proyek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berjalan</a:t>
            </a:r>
            <a:endParaRPr sz="2800">
              <a:latin typeface="Arial MT"/>
              <a:cs typeface="Arial MT"/>
            </a:endParaRPr>
          </a:p>
          <a:p>
            <a:pPr marL="501650" marR="206375" indent="-489584">
              <a:lnSpc>
                <a:spcPct val="100000"/>
              </a:lnSpc>
              <a:spcBef>
                <a:spcPts val="675"/>
              </a:spcBef>
              <a:buClr>
                <a:srgbClr val="FFFFFF"/>
              </a:buClr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D17373"/>
                </a:solidFill>
                <a:latin typeface="Arial MT"/>
                <a:cs typeface="Arial MT"/>
              </a:rPr>
              <a:t>Project</a:t>
            </a:r>
            <a:r>
              <a:rPr dirty="0" sz="2800" spc="-70">
                <a:solidFill>
                  <a:srgbClr val="D17373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Seluruh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kerja/usaha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yang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dibutuhkan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untuk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mewujudkan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suatu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produk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7223" y="441959"/>
            <a:ext cx="2560320" cy="10698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559" rIns="0" bIns="0" rtlCol="0" vert="horz">
            <a:spAutoFit/>
          </a:bodyPr>
          <a:lstStyle/>
          <a:p>
            <a:pPr marL="378523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Empat</a:t>
            </a:r>
            <a:r>
              <a:rPr dirty="0" sz="4000" spc="-110"/>
              <a:t> </a:t>
            </a:r>
            <a:r>
              <a:rPr dirty="0" sz="4000" spc="-50"/>
              <a:t>P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5465" y="1604409"/>
            <a:ext cx="8715375" cy="4203065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Pada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process,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terdapat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tipe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dari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players:</a:t>
            </a:r>
            <a:endParaRPr sz="2000">
              <a:latin typeface="Arial"/>
              <a:cs typeface="Arial"/>
            </a:endParaRPr>
          </a:p>
          <a:p>
            <a:pPr marL="469900" marR="5080" indent="205104">
              <a:lnSpc>
                <a:spcPct val="150100"/>
              </a:lnSpc>
              <a:spcBef>
                <a:spcPts val="55"/>
              </a:spcBef>
              <a:buFont typeface="Arial MT"/>
              <a:buChar char="•"/>
              <a:tabLst>
                <a:tab pos="675005" algn="l"/>
              </a:tabLst>
            </a:pP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managers,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yang mendefinisikan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dari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masalah</a:t>
            </a:r>
            <a:r>
              <a:rPr dirty="0" sz="18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bisnis.</a:t>
            </a:r>
            <a:r>
              <a:rPr dirty="0" sz="18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(berpengaruh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kuat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terhadap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 project).</a:t>
            </a:r>
            <a:endParaRPr sz="1800">
              <a:latin typeface="Arial"/>
              <a:cs typeface="Arial"/>
            </a:endParaRPr>
          </a:p>
          <a:p>
            <a:pPr marL="469900" marR="751840" indent="205104">
              <a:lnSpc>
                <a:spcPct val="150000"/>
              </a:lnSpc>
              <a:buFont typeface="Arial MT"/>
              <a:buChar char="•"/>
              <a:tabLst>
                <a:tab pos="675005" algn="l"/>
              </a:tabLst>
            </a:pP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Practitioners,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akan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mengantar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pada</a:t>
            </a:r>
            <a:r>
              <a:rPr dirty="0" sz="18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kemampuan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teknik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untuk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dirty="0" sz="18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1800">
              <a:latin typeface="Arial"/>
              <a:cs typeface="Arial"/>
            </a:endParaRPr>
          </a:p>
          <a:p>
            <a:pPr marL="469900" marR="628650" indent="205104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675005" algn="l"/>
              </a:tabLst>
            </a:pP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dirty="0" sz="18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(technical)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managers, seseorang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harus</a:t>
            </a:r>
            <a:r>
              <a:rPr dirty="0" sz="18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merencanakan,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memotivasi,</a:t>
            </a:r>
            <a:r>
              <a:rPr dirty="0" sz="18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8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mengorganisasikan.</a:t>
            </a:r>
            <a:endParaRPr sz="1800">
              <a:latin typeface="Arial"/>
              <a:cs typeface="Arial"/>
            </a:endParaRPr>
          </a:p>
          <a:p>
            <a:pPr marL="469900" marR="295910" indent="205104">
              <a:lnSpc>
                <a:spcPct val="150000"/>
              </a:lnSpc>
              <a:buFont typeface="Arial MT"/>
              <a:buChar char="•"/>
              <a:tabLst>
                <a:tab pos="675005" algn="l"/>
              </a:tabLst>
            </a:pP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Customers,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seseorang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akan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menspesifikasikan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requirements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dari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1800">
              <a:latin typeface="Arial"/>
              <a:cs typeface="Arial"/>
            </a:endParaRPr>
          </a:p>
          <a:p>
            <a:pPr marL="675005" indent="-205104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675005" algn="l"/>
              </a:tabLst>
            </a:pP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dirty="0" sz="18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users, seseorang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berinteraksi</a:t>
            </a:r>
            <a:r>
              <a:rPr dirty="0" sz="18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8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akan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direleased.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1628" y="441959"/>
            <a:ext cx="2191512" cy="10698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559" rIns="0" bIns="0" rtlCol="0" vert="horz">
            <a:spAutoFit/>
          </a:bodyPr>
          <a:lstStyle/>
          <a:p>
            <a:pPr marL="397002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People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53490" y="1586229"/>
            <a:ext cx="7839709" cy="391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2835">
              <a:lnSpc>
                <a:spcPct val="100000"/>
              </a:lnSpc>
              <a:spcBef>
                <a:spcPts val="100"/>
              </a:spcBef>
            </a:pP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Masing-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masing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fungsi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akan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menjadi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engneered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dari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melalui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aktivitas</a:t>
            </a:r>
            <a:r>
              <a:rPr dirty="0" sz="1500" spc="-8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Arial"/>
              <a:cs typeface="Arial"/>
            </a:endParaRPr>
          </a:p>
          <a:p>
            <a:pPr marL="305435" marR="5080" indent="-293370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Komunikasi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tugas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membangun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komunikasi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efektif</a:t>
            </a:r>
            <a:r>
              <a:rPr dirty="0" sz="1500" spc="3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diantara customer</a:t>
            </a:r>
            <a:endParaRPr sz="1500">
              <a:latin typeface="Arial"/>
              <a:cs typeface="Arial"/>
            </a:endParaRPr>
          </a:p>
          <a:p>
            <a:pPr marL="305435" indent="-292735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Planning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tugas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mendefinisikan</a:t>
            </a:r>
            <a:r>
              <a:rPr dirty="0" sz="1500" spc="-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resource,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timelines</a:t>
            </a:r>
            <a:r>
              <a:rPr dirty="0" sz="15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dsb</a:t>
            </a:r>
            <a:endParaRPr sz="1500">
              <a:latin typeface="Arial"/>
              <a:cs typeface="Arial"/>
            </a:endParaRPr>
          </a:p>
          <a:p>
            <a:pPr marL="305435" indent="-292735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Analisis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resiko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tugas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menerima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resiko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teknik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500">
              <a:latin typeface="Arial"/>
              <a:cs typeface="Arial"/>
            </a:endParaRPr>
          </a:p>
          <a:p>
            <a:pPr marL="305435" indent="-292735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tugas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membangun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sistem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aplikasi</a:t>
            </a:r>
            <a:endParaRPr sz="1500">
              <a:latin typeface="Arial"/>
              <a:cs typeface="Arial"/>
            </a:endParaRPr>
          </a:p>
          <a:p>
            <a:pPr marL="305435" indent="-292735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Construction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release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installation,</a:t>
            </a:r>
            <a:r>
              <a:rPr dirty="0" sz="1500" spc="-7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release</a:t>
            </a:r>
            <a:r>
              <a:rPr dirty="0" sz="15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control,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support.</a:t>
            </a:r>
            <a:endParaRPr sz="1500">
              <a:latin typeface="Arial"/>
              <a:cs typeface="Arial"/>
            </a:endParaRPr>
          </a:p>
          <a:p>
            <a:pPr marL="305435" marR="5080" indent="-293370">
              <a:lnSpc>
                <a:spcPct val="100000"/>
              </a:lnSpc>
              <a:buFont typeface="Wingdings"/>
              <a:buChar char=""/>
              <a:tabLst>
                <a:tab pos="305435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tugas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mendapatkan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dirty="0" sz="15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dari</a:t>
            </a:r>
            <a:r>
              <a:rPr dirty="0" sz="15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hasil evaluasi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FFFFFF"/>
              </a:buClr>
              <a:buFont typeface="Wingdings"/>
              <a:buChar char="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decomposition:</a:t>
            </a:r>
            <a:endParaRPr sz="1500">
              <a:latin typeface="Arial"/>
              <a:cs typeface="Arial"/>
            </a:endParaRPr>
          </a:p>
          <a:p>
            <a:pPr lvl="1" marL="927100" indent="-457200">
              <a:lnSpc>
                <a:spcPct val="100000"/>
              </a:lnSpc>
              <a:buFont typeface="Wingdings"/>
              <a:buChar char=""/>
              <a:tabLst>
                <a:tab pos="927100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r>
              <a:rPr dirty="0" sz="15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endParaRPr sz="1500">
              <a:latin typeface="Arial"/>
              <a:cs typeface="Arial"/>
            </a:endParaRPr>
          </a:p>
          <a:p>
            <a:pPr lvl="1" marL="927100" indent="-457200">
              <a:lnSpc>
                <a:spcPct val="100000"/>
              </a:lnSpc>
              <a:buFont typeface="Wingdings"/>
              <a:buChar char=""/>
              <a:tabLst>
                <a:tab pos="927100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memilih</a:t>
            </a:r>
            <a:r>
              <a:rPr dirty="0" sz="15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5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5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endParaRPr sz="1500">
              <a:latin typeface="Arial"/>
              <a:cs typeface="Arial"/>
            </a:endParaRPr>
          </a:p>
          <a:p>
            <a:pPr lvl="1" marL="927100" marR="1305560" indent="-457200">
              <a:lnSpc>
                <a:spcPct val="100000"/>
              </a:lnSpc>
              <a:buFont typeface="Wingdings"/>
              <a:buChar char=""/>
              <a:tabLst>
                <a:tab pos="927100" algn="l"/>
              </a:tabLst>
            </a:pP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mendefinisikan</a:t>
            </a:r>
            <a:r>
              <a:rPr dirty="0" sz="1500" spc="-7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preliminary</a:t>
            </a:r>
            <a:r>
              <a:rPr dirty="0" sz="1500" spc="-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dirty="0" sz="15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dirty="0" sz="15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berdasarkan</a:t>
            </a:r>
            <a:r>
              <a:rPr dirty="0" sz="1500" spc="-6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aktivitas </a:t>
            </a:r>
            <a:r>
              <a:rPr dirty="0" sz="1500" b="1" i="1">
                <a:solidFill>
                  <a:srgbClr val="FFFFFF"/>
                </a:solidFill>
                <a:latin typeface="Arial"/>
                <a:cs typeface="Arial"/>
              </a:rPr>
              <a:t>proses</a:t>
            </a:r>
            <a:r>
              <a:rPr dirty="0" sz="15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459" y="359663"/>
            <a:ext cx="2193036" cy="10698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533" rIns="0" bIns="0" rtlCol="0" vert="horz">
            <a:spAutoFit/>
          </a:bodyPr>
          <a:lstStyle/>
          <a:p>
            <a:pPr marL="414909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Proses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5642" y="1973707"/>
            <a:ext cx="8545195" cy="3684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dirty="0" sz="20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20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komplit</a:t>
            </a:r>
            <a:r>
              <a:rPr dirty="0" sz="20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memerlukan</a:t>
            </a:r>
            <a:r>
              <a:rPr dirty="0" sz="20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beberapa</a:t>
            </a:r>
            <a:r>
              <a:rPr dirty="0" sz="20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tugas</a:t>
            </a:r>
            <a:r>
              <a:rPr dirty="0" sz="20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 i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51205" indent="-281305">
              <a:lnSpc>
                <a:spcPct val="100000"/>
              </a:lnSpc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Mereview</a:t>
            </a:r>
            <a:r>
              <a:rPr dirty="0" sz="20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permintaan</a:t>
            </a:r>
            <a:r>
              <a:rPr dirty="0" sz="20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2000">
              <a:latin typeface="Arial"/>
              <a:cs typeface="Arial"/>
            </a:endParaRPr>
          </a:p>
          <a:p>
            <a:pPr marL="751205" marR="886460" indent="-281940">
              <a:lnSpc>
                <a:spcPct val="100000"/>
              </a:lnSpc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Merencanakan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20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menjadwalkan</a:t>
            </a:r>
            <a:r>
              <a:rPr dirty="0" sz="20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secara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formal,</a:t>
            </a:r>
            <a:r>
              <a:rPr dirty="0" sz="20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fasilitas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pertemuan</a:t>
            </a:r>
            <a:r>
              <a:rPr dirty="0" sz="20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dengan 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2000">
              <a:latin typeface="Arial"/>
              <a:cs typeface="Arial"/>
            </a:endParaRPr>
          </a:p>
          <a:p>
            <a:pPr marL="751205" marR="733425" indent="-281940">
              <a:lnSpc>
                <a:spcPct val="100000"/>
              </a:lnSpc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Mengharapkan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penelitian</a:t>
            </a:r>
            <a:r>
              <a:rPr dirty="0" sz="20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20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mendefinisikan</a:t>
            </a:r>
            <a:r>
              <a:rPr dirty="0" sz="20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solusi</a:t>
            </a:r>
            <a:r>
              <a:rPr dirty="0" sz="20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 b="1" i="1">
                <a:solidFill>
                  <a:srgbClr val="FFFFFF"/>
                </a:solidFill>
                <a:latin typeface="Arial"/>
                <a:cs typeface="Arial"/>
              </a:rPr>
              <a:t>dan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pendekatan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 b="1" i="1">
                <a:solidFill>
                  <a:srgbClr val="FFFFFF"/>
                </a:solidFill>
                <a:latin typeface="Arial"/>
                <a:cs typeface="Arial"/>
              </a:rPr>
              <a:t>ada</a:t>
            </a:r>
            <a:endParaRPr sz="2000">
              <a:latin typeface="Arial"/>
              <a:cs typeface="Arial"/>
            </a:endParaRPr>
          </a:p>
          <a:p>
            <a:pPr marL="751205" indent="-281305">
              <a:lnSpc>
                <a:spcPct val="100000"/>
              </a:lnSpc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Menyiapkan</a:t>
            </a:r>
            <a:r>
              <a:rPr dirty="0" sz="20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“dokumen</a:t>
            </a:r>
            <a:r>
              <a:rPr dirty="0" sz="20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pekerjaan”</a:t>
            </a:r>
            <a:r>
              <a:rPr dirty="0" sz="20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r>
              <a:rPr dirty="0" sz="20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20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pertemuan</a:t>
            </a:r>
            <a:endParaRPr sz="2000">
              <a:latin typeface="Arial"/>
              <a:cs typeface="Arial"/>
            </a:endParaRPr>
          </a:p>
          <a:p>
            <a:pPr marL="751205">
              <a:lnSpc>
                <a:spcPct val="100000"/>
              </a:lnSpc>
            </a:pP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formal</a:t>
            </a:r>
            <a:endParaRPr sz="2000">
              <a:latin typeface="Arial"/>
              <a:cs typeface="Arial"/>
            </a:endParaRPr>
          </a:p>
          <a:p>
            <a:pPr marL="751205" indent="-281305">
              <a:lnSpc>
                <a:spcPct val="100000"/>
              </a:lnSpc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Mengharapkan</a:t>
            </a:r>
            <a:r>
              <a:rPr dirty="0" sz="20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terjadinya</a:t>
            </a:r>
            <a:r>
              <a:rPr dirty="0" sz="2000" spc="-5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pertemuan</a:t>
            </a:r>
            <a:endParaRPr sz="2000">
              <a:latin typeface="Arial"/>
              <a:cs typeface="Arial"/>
            </a:endParaRPr>
          </a:p>
          <a:p>
            <a:pPr marL="751205" marR="293370" indent="-281940">
              <a:lnSpc>
                <a:spcPct val="100000"/>
              </a:lnSpc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Mengembangkan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 mini-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spec</a:t>
            </a:r>
            <a:r>
              <a:rPr dirty="0" sz="20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20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perbaikan,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konsistensi,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 b="1" i="1">
                <a:solidFill>
                  <a:srgbClr val="FFFFFF"/>
                </a:solidFill>
                <a:latin typeface="Arial"/>
                <a:cs typeface="Arial"/>
              </a:rPr>
              <a:t>dan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kelemahan</a:t>
            </a:r>
            <a:r>
              <a:rPr dirty="0" sz="20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pada 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ambiguitas</a:t>
            </a:r>
            <a:endParaRPr sz="2000">
              <a:latin typeface="Arial"/>
              <a:cs typeface="Arial"/>
            </a:endParaRPr>
          </a:p>
          <a:p>
            <a:pPr marL="751205" indent="-28130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751205" algn="l"/>
              </a:tabLst>
            </a:pP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Memodifikasi</a:t>
            </a:r>
            <a:r>
              <a:rPr dirty="0" sz="20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cakupan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dokumen</a:t>
            </a:r>
            <a:r>
              <a:rPr dirty="0" sz="20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2000" spc="-10" b="1" i="1">
                <a:solidFill>
                  <a:srgbClr val="FFFFFF"/>
                </a:solidFill>
                <a:latin typeface="Arial"/>
                <a:cs typeface="Arial"/>
              </a:rPr>
              <a:t> diperlukan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459" y="359663"/>
            <a:ext cx="2193036" cy="10698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533" rIns="0" bIns="0" rtlCol="0" vert="horz">
            <a:spAutoFit/>
          </a:bodyPr>
          <a:lstStyle/>
          <a:p>
            <a:pPr marL="414909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Project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1678" rIns="0" bIns="0" rtlCol="0" vert="horz">
            <a:spAutoFit/>
          </a:bodyPr>
          <a:lstStyle/>
          <a:p>
            <a:pPr marL="950594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Proyek</a:t>
            </a:r>
            <a:r>
              <a:rPr dirty="0" sz="4000" spc="-120"/>
              <a:t> </a:t>
            </a:r>
            <a:r>
              <a:rPr dirty="0" sz="4000" spc="-10"/>
              <a:t>Software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2558795" y="2209800"/>
            <a:ext cx="4985385" cy="3810000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366395" indent="-14287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ukuran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(size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223520" marR="1219200" indent="142875">
              <a:lnSpc>
                <a:spcPts val="1939"/>
              </a:lnSpc>
              <a:spcBef>
                <a:spcPts val="1110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batas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akhir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penyerahan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produk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deadline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66395" indent="-14287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anggaran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beaya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budgets</a:t>
            </a:r>
            <a:r>
              <a:rPr dirty="0" sz="18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costs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66395" indent="-14287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domain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aplikasi</a:t>
            </a:r>
            <a:endParaRPr sz="1800">
              <a:latin typeface="Arial"/>
              <a:cs typeface="Arial"/>
            </a:endParaRPr>
          </a:p>
          <a:p>
            <a:pPr marL="366395" indent="-14287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teknologi</a:t>
            </a:r>
            <a:r>
              <a:rPr dirty="0" sz="1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diterapkan</a:t>
            </a:r>
            <a:endParaRPr sz="1800">
              <a:latin typeface="Arial"/>
              <a:cs typeface="Arial"/>
            </a:endParaRPr>
          </a:p>
          <a:p>
            <a:pPr marL="366395" indent="-14287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batasan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sistem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800" spc="-1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66395" indent="-14287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kebutuhan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pengguna</a:t>
            </a:r>
            <a:r>
              <a:rPr dirty="0" sz="1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requirements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66395" indent="-14287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66395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sumberdaya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tersedia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34541" y="1741373"/>
            <a:ext cx="59531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Arial"/>
                <a:cs typeface="Arial"/>
              </a:rPr>
              <a:t>Faktor</a:t>
            </a:r>
            <a:r>
              <a:rPr dirty="0" sz="24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24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Arial"/>
                <a:cs typeface="Arial"/>
              </a:rPr>
              <a:t>mempengaruhi</a:t>
            </a:r>
            <a:r>
              <a:rPr dirty="0" sz="24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Arial"/>
                <a:cs typeface="Arial"/>
              </a:rPr>
              <a:t>hasil</a:t>
            </a:r>
            <a:r>
              <a:rPr dirty="0" sz="24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Arial"/>
                <a:cs typeface="Arial"/>
              </a:rPr>
              <a:t>akhir</a:t>
            </a:r>
            <a:r>
              <a:rPr dirty="0" sz="2400" spc="-25" b="1" i="1">
                <a:solidFill>
                  <a:srgbClr val="FFFFFF"/>
                </a:solidFill>
                <a:latin typeface="Arial"/>
                <a:cs typeface="Arial"/>
              </a:rPr>
              <a:t> ...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983" rIns="0" bIns="0" rtlCol="0" vert="horz">
            <a:spAutoFit/>
          </a:bodyPr>
          <a:lstStyle/>
          <a:p>
            <a:pPr marL="102425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Seputar</a:t>
            </a:r>
            <a:r>
              <a:rPr dirty="0" sz="4000" spc="-175"/>
              <a:t> </a:t>
            </a:r>
            <a:r>
              <a:rPr dirty="0" sz="4000"/>
              <a:t>Manajemen</a:t>
            </a:r>
            <a:r>
              <a:rPr dirty="0" sz="4000" spc="-125"/>
              <a:t> </a:t>
            </a:r>
            <a:r>
              <a:rPr dirty="0" sz="4000" spc="-10"/>
              <a:t>Proyek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1403603" y="1905000"/>
            <a:ext cx="7842884" cy="4114800"/>
            <a:chOff x="1403603" y="1905000"/>
            <a:chExt cx="7842884" cy="4114800"/>
          </a:xfrm>
        </p:grpSpPr>
        <p:sp>
          <p:nvSpPr>
            <p:cNvPr id="4" name="object 4" descr=""/>
            <p:cNvSpPr/>
            <p:nvPr/>
          </p:nvSpPr>
          <p:spPr>
            <a:xfrm>
              <a:off x="1403603" y="1905000"/>
              <a:ext cx="7842884" cy="4114800"/>
            </a:xfrm>
            <a:custGeom>
              <a:avLst/>
              <a:gdLst/>
              <a:ahLst/>
              <a:cxnLst/>
              <a:rect l="l" t="t" r="r" b="b"/>
              <a:pathLst>
                <a:path w="7842884" h="4114800">
                  <a:moveTo>
                    <a:pt x="7842504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842504" y="4114800"/>
                  </a:lnTo>
                  <a:lnTo>
                    <a:pt x="7842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866924" y="3280811"/>
              <a:ext cx="2064385" cy="1003300"/>
            </a:xfrm>
            <a:custGeom>
              <a:avLst/>
              <a:gdLst/>
              <a:ahLst/>
              <a:cxnLst/>
              <a:rect l="l" t="t" r="r" b="b"/>
              <a:pathLst>
                <a:path w="2064385" h="1003300">
                  <a:moveTo>
                    <a:pt x="0" y="622206"/>
                  </a:moveTo>
                  <a:lnTo>
                    <a:pt x="1486060" y="0"/>
                  </a:lnTo>
                  <a:lnTo>
                    <a:pt x="2063906" y="114427"/>
                  </a:lnTo>
                  <a:lnTo>
                    <a:pt x="825724" y="1003154"/>
                  </a:lnTo>
                  <a:lnTo>
                    <a:pt x="0" y="622206"/>
                  </a:lnTo>
                </a:path>
              </a:pathLst>
            </a:custGeom>
            <a:ln w="25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924" y="3903017"/>
              <a:ext cx="825724" cy="109226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866924" y="3903017"/>
              <a:ext cx="826135" cy="1092835"/>
            </a:xfrm>
            <a:custGeom>
              <a:avLst/>
              <a:gdLst/>
              <a:ahLst/>
              <a:cxnLst/>
              <a:rect l="l" t="t" r="r" b="b"/>
              <a:pathLst>
                <a:path w="826135" h="1092835">
                  <a:moveTo>
                    <a:pt x="0" y="0"/>
                  </a:moveTo>
                  <a:lnTo>
                    <a:pt x="0" y="660416"/>
                  </a:lnTo>
                  <a:lnTo>
                    <a:pt x="825724" y="1092268"/>
                  </a:lnTo>
                  <a:lnTo>
                    <a:pt x="825724" y="380948"/>
                  </a:lnTo>
                </a:path>
              </a:pathLst>
            </a:custGeom>
            <a:ln w="133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2648" y="3395239"/>
              <a:ext cx="1238182" cy="160004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692648" y="3395239"/>
              <a:ext cx="1238250" cy="1600200"/>
            </a:xfrm>
            <a:custGeom>
              <a:avLst/>
              <a:gdLst/>
              <a:ahLst/>
              <a:cxnLst/>
              <a:rect l="l" t="t" r="r" b="b"/>
              <a:pathLst>
                <a:path w="1238250" h="1600200">
                  <a:moveTo>
                    <a:pt x="1238182" y="0"/>
                  </a:moveTo>
                  <a:lnTo>
                    <a:pt x="1238182" y="571377"/>
                  </a:lnTo>
                  <a:lnTo>
                    <a:pt x="0" y="1600047"/>
                  </a:lnTo>
                </a:path>
              </a:pathLst>
            </a:custGeom>
            <a:ln w="13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486051" y="3179407"/>
              <a:ext cx="289560" cy="508634"/>
            </a:xfrm>
            <a:custGeom>
              <a:avLst/>
              <a:gdLst/>
              <a:ahLst/>
              <a:cxnLst/>
              <a:rect l="l" t="t" r="r" b="b"/>
              <a:pathLst>
                <a:path w="289560" h="508635">
                  <a:moveTo>
                    <a:pt x="0" y="508031"/>
                  </a:moveTo>
                  <a:lnTo>
                    <a:pt x="0" y="114047"/>
                  </a:lnTo>
                  <a:lnTo>
                    <a:pt x="247787" y="0"/>
                  </a:lnTo>
                  <a:lnTo>
                    <a:pt x="288964" y="393604"/>
                  </a:lnTo>
                </a:path>
              </a:pathLst>
            </a:custGeom>
            <a:ln w="269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68761" y="2912874"/>
              <a:ext cx="110489" cy="444500"/>
            </a:xfrm>
            <a:custGeom>
              <a:avLst/>
              <a:gdLst/>
              <a:ahLst/>
              <a:cxnLst/>
              <a:rect l="l" t="t" r="r" b="b"/>
              <a:pathLst>
                <a:path w="110489" h="444500">
                  <a:moveTo>
                    <a:pt x="54902" y="0"/>
                  </a:moveTo>
                  <a:lnTo>
                    <a:pt x="23717" y="43001"/>
                  </a:lnTo>
                  <a:lnTo>
                    <a:pt x="11419" y="90371"/>
                  </a:lnTo>
                  <a:lnTo>
                    <a:pt x="3074" y="149315"/>
                  </a:lnTo>
                  <a:lnTo>
                    <a:pt x="0" y="215578"/>
                  </a:lnTo>
                  <a:lnTo>
                    <a:pt x="3074" y="288148"/>
                  </a:lnTo>
                  <a:lnTo>
                    <a:pt x="11419" y="350941"/>
                  </a:lnTo>
                  <a:lnTo>
                    <a:pt x="23717" y="400308"/>
                  </a:lnTo>
                  <a:lnTo>
                    <a:pt x="38651" y="432604"/>
                  </a:lnTo>
                  <a:lnTo>
                    <a:pt x="54902" y="444180"/>
                  </a:lnTo>
                  <a:lnTo>
                    <a:pt x="71195" y="432604"/>
                  </a:lnTo>
                  <a:lnTo>
                    <a:pt x="86218" y="400308"/>
                  </a:lnTo>
                  <a:lnTo>
                    <a:pt x="98620" y="350941"/>
                  </a:lnTo>
                  <a:lnTo>
                    <a:pt x="107051" y="288148"/>
                  </a:lnTo>
                  <a:lnTo>
                    <a:pt x="110161" y="215578"/>
                  </a:lnTo>
                  <a:lnTo>
                    <a:pt x="107051" y="149315"/>
                  </a:lnTo>
                  <a:lnTo>
                    <a:pt x="98620" y="90371"/>
                  </a:lnTo>
                  <a:lnTo>
                    <a:pt x="86218" y="43001"/>
                  </a:lnTo>
                  <a:lnTo>
                    <a:pt x="71195" y="11459"/>
                  </a:lnTo>
                  <a:lnTo>
                    <a:pt x="54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555022" y="2899851"/>
              <a:ext cx="137795" cy="469900"/>
            </a:xfrm>
            <a:custGeom>
              <a:avLst/>
              <a:gdLst/>
              <a:ahLst/>
              <a:cxnLst/>
              <a:rect l="l" t="t" r="r" b="b"/>
              <a:pathLst>
                <a:path w="137794" h="469900">
                  <a:moveTo>
                    <a:pt x="0" y="228601"/>
                  </a:moveTo>
                  <a:lnTo>
                    <a:pt x="2225" y="290593"/>
                  </a:lnTo>
                  <a:lnTo>
                    <a:pt x="8645" y="347622"/>
                  </a:lnTo>
                  <a:lnTo>
                    <a:pt x="18879" y="396876"/>
                  </a:lnTo>
                  <a:lnTo>
                    <a:pt x="32544" y="435540"/>
                  </a:lnTo>
                  <a:lnTo>
                    <a:pt x="68641" y="469847"/>
                  </a:lnTo>
                  <a:lnTo>
                    <a:pt x="88172" y="460801"/>
                  </a:lnTo>
                  <a:lnTo>
                    <a:pt x="118708" y="396876"/>
                  </a:lnTo>
                  <a:lnTo>
                    <a:pt x="128970" y="347622"/>
                  </a:lnTo>
                  <a:lnTo>
                    <a:pt x="135400" y="290593"/>
                  </a:lnTo>
                  <a:lnTo>
                    <a:pt x="137626" y="228601"/>
                  </a:lnTo>
                  <a:lnTo>
                    <a:pt x="134438" y="156128"/>
                  </a:lnTo>
                  <a:lnTo>
                    <a:pt x="125305" y="93348"/>
                  </a:lnTo>
                  <a:lnTo>
                    <a:pt x="110866" y="43944"/>
                  </a:lnTo>
                  <a:lnTo>
                    <a:pt x="91764" y="11600"/>
                  </a:lnTo>
                  <a:lnTo>
                    <a:pt x="68641" y="0"/>
                  </a:lnTo>
                  <a:lnTo>
                    <a:pt x="45690" y="11600"/>
                  </a:lnTo>
                  <a:lnTo>
                    <a:pt x="26691" y="43944"/>
                  </a:lnTo>
                  <a:lnTo>
                    <a:pt x="12302" y="93348"/>
                  </a:lnTo>
                  <a:lnTo>
                    <a:pt x="3185" y="156128"/>
                  </a:lnTo>
                  <a:lnTo>
                    <a:pt x="0" y="228601"/>
                  </a:lnTo>
                </a:path>
              </a:pathLst>
            </a:custGeom>
            <a:ln w="5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486051" y="3230236"/>
              <a:ext cx="661035" cy="546100"/>
            </a:xfrm>
            <a:custGeom>
              <a:avLst/>
              <a:gdLst/>
              <a:ahLst/>
              <a:cxnLst/>
              <a:rect l="l" t="t" r="r" b="b"/>
              <a:pathLst>
                <a:path w="661035" h="546100">
                  <a:moveTo>
                    <a:pt x="0" y="63219"/>
                  </a:moveTo>
                  <a:lnTo>
                    <a:pt x="220322" y="545963"/>
                  </a:lnTo>
                  <a:lnTo>
                    <a:pt x="192871" y="139462"/>
                  </a:lnTo>
                </a:path>
                <a:path w="661035" h="546100">
                  <a:moveTo>
                    <a:pt x="247787" y="0"/>
                  </a:moveTo>
                  <a:lnTo>
                    <a:pt x="660638" y="291821"/>
                  </a:lnTo>
                  <a:lnTo>
                    <a:pt x="371674" y="368063"/>
                  </a:lnTo>
                </a:path>
              </a:pathLst>
            </a:custGeom>
            <a:ln w="263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33839" y="3509413"/>
              <a:ext cx="550545" cy="317500"/>
            </a:xfrm>
            <a:custGeom>
              <a:avLst/>
              <a:gdLst/>
              <a:ahLst/>
              <a:cxnLst/>
              <a:rect l="l" t="t" r="r" b="b"/>
              <a:pathLst>
                <a:path w="550545" h="317500">
                  <a:moveTo>
                    <a:pt x="0" y="165002"/>
                  </a:moveTo>
                  <a:lnTo>
                    <a:pt x="302689" y="317361"/>
                  </a:lnTo>
                  <a:lnTo>
                    <a:pt x="550518" y="139715"/>
                  </a:lnTo>
                  <a:lnTo>
                    <a:pt x="206253" y="0"/>
                  </a:lnTo>
                  <a:lnTo>
                    <a:pt x="0" y="165002"/>
                  </a:lnTo>
                </a:path>
              </a:pathLst>
            </a:custGeom>
            <a:ln w="25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61290" y="3535080"/>
              <a:ext cx="550545" cy="317500"/>
            </a:xfrm>
            <a:custGeom>
              <a:avLst/>
              <a:gdLst/>
              <a:ahLst/>
              <a:cxnLst/>
              <a:rect l="l" t="t" r="r" b="b"/>
              <a:pathLst>
                <a:path w="550545" h="317500">
                  <a:moveTo>
                    <a:pt x="0" y="177646"/>
                  </a:moveTo>
                  <a:lnTo>
                    <a:pt x="302703" y="317361"/>
                  </a:lnTo>
                  <a:lnTo>
                    <a:pt x="550518" y="139335"/>
                  </a:lnTo>
                  <a:lnTo>
                    <a:pt x="220322" y="0"/>
                  </a:lnTo>
                  <a:lnTo>
                    <a:pt x="0" y="177646"/>
                  </a:lnTo>
                </a:path>
              </a:pathLst>
            </a:custGeom>
            <a:ln w="25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88755" y="3560368"/>
              <a:ext cx="564515" cy="317500"/>
            </a:xfrm>
            <a:custGeom>
              <a:avLst/>
              <a:gdLst/>
              <a:ahLst/>
              <a:cxnLst/>
              <a:rect l="l" t="t" r="r" b="b"/>
              <a:pathLst>
                <a:path w="564514" h="317500">
                  <a:moveTo>
                    <a:pt x="0" y="177646"/>
                  </a:moveTo>
                  <a:lnTo>
                    <a:pt x="316758" y="317361"/>
                  </a:lnTo>
                  <a:lnTo>
                    <a:pt x="564230" y="152358"/>
                  </a:lnTo>
                  <a:lnTo>
                    <a:pt x="220322" y="0"/>
                  </a:lnTo>
                  <a:lnTo>
                    <a:pt x="0" y="177646"/>
                  </a:lnTo>
                </a:path>
              </a:pathLst>
            </a:custGeom>
            <a:ln w="25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6535" y="3598300"/>
              <a:ext cx="563900" cy="30471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816535" y="3598300"/>
              <a:ext cx="564515" cy="304800"/>
            </a:xfrm>
            <a:custGeom>
              <a:avLst/>
              <a:gdLst/>
              <a:ahLst/>
              <a:cxnLst/>
              <a:rect l="l" t="t" r="r" b="b"/>
              <a:pathLst>
                <a:path w="564514" h="304800">
                  <a:moveTo>
                    <a:pt x="0" y="165255"/>
                  </a:moveTo>
                  <a:lnTo>
                    <a:pt x="316429" y="304717"/>
                  </a:lnTo>
                  <a:lnTo>
                    <a:pt x="563900" y="139715"/>
                  </a:lnTo>
                  <a:lnTo>
                    <a:pt x="219993" y="0"/>
                  </a:lnTo>
                  <a:lnTo>
                    <a:pt x="0" y="165255"/>
                  </a:lnTo>
                </a:path>
              </a:pathLst>
            </a:custGeom>
            <a:ln w="257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09077" y="2404842"/>
              <a:ext cx="2697480" cy="2844800"/>
            </a:xfrm>
            <a:custGeom>
              <a:avLst/>
              <a:gdLst/>
              <a:ahLst/>
              <a:cxnLst/>
              <a:rect l="l" t="t" r="r" b="b"/>
              <a:pathLst>
                <a:path w="2697479" h="2844800">
                  <a:moveTo>
                    <a:pt x="0" y="634723"/>
                  </a:moveTo>
                  <a:lnTo>
                    <a:pt x="1348343" y="0"/>
                  </a:lnTo>
                </a:path>
                <a:path w="2697479" h="2844800">
                  <a:moveTo>
                    <a:pt x="68641" y="875969"/>
                  </a:moveTo>
                  <a:lnTo>
                    <a:pt x="2229112" y="609435"/>
                  </a:lnTo>
                </a:path>
                <a:path w="2697479" h="2844800">
                  <a:moveTo>
                    <a:pt x="137612" y="1053995"/>
                  </a:moveTo>
                  <a:lnTo>
                    <a:pt x="2696880" y="1320528"/>
                  </a:lnTo>
                </a:path>
                <a:path w="2697479" h="2844800">
                  <a:moveTo>
                    <a:pt x="343907" y="1206354"/>
                  </a:moveTo>
                  <a:lnTo>
                    <a:pt x="2614389" y="1739421"/>
                  </a:lnTo>
                </a:path>
                <a:path w="2697479" h="2844800">
                  <a:moveTo>
                    <a:pt x="206240" y="1371357"/>
                  </a:moveTo>
                  <a:lnTo>
                    <a:pt x="2449408" y="2145947"/>
                  </a:lnTo>
                </a:path>
                <a:path w="2697479" h="2844800">
                  <a:moveTo>
                    <a:pt x="68641" y="1345816"/>
                  </a:moveTo>
                  <a:lnTo>
                    <a:pt x="1788797" y="2501304"/>
                  </a:lnTo>
                </a:path>
                <a:path w="2697479" h="2844800">
                  <a:moveTo>
                    <a:pt x="0" y="1371357"/>
                  </a:moveTo>
                  <a:lnTo>
                    <a:pt x="1403383" y="2844308"/>
                  </a:lnTo>
                </a:path>
              </a:pathLst>
            </a:custGeom>
            <a:ln w="131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403603" y="1905000"/>
            <a:ext cx="7842884" cy="4114800"/>
          </a:xfrm>
          <a:prstGeom prst="rect">
            <a:avLst/>
          </a:prstGeom>
          <a:ln w="12192">
            <a:solidFill>
              <a:srgbClr val="FFFFFF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3077210">
              <a:lnSpc>
                <a:spcPct val="100000"/>
              </a:lnSpc>
              <a:spcBef>
                <a:spcPts val="1235"/>
              </a:spcBef>
            </a:pPr>
            <a:r>
              <a:rPr dirty="0" sz="1800" spc="65">
                <a:latin typeface="Arial MT"/>
                <a:cs typeface="Arial MT"/>
              </a:rPr>
              <a:t>product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45">
                <a:latin typeface="Arial MT"/>
                <a:cs typeface="Arial MT"/>
              </a:rPr>
              <a:t>quality?</a:t>
            </a:r>
            <a:endParaRPr sz="1800">
              <a:latin typeface="Arial MT"/>
              <a:cs typeface="Arial MT"/>
            </a:endParaRPr>
          </a:p>
          <a:p>
            <a:pPr marL="3957954" marR="2251075" indent="-426720">
              <a:lnSpc>
                <a:spcPct val="120300"/>
              </a:lnSpc>
              <a:spcBef>
                <a:spcPts val="700"/>
              </a:spcBef>
            </a:pPr>
            <a:r>
              <a:rPr dirty="0" sz="1800" spc="55">
                <a:latin typeface="Arial MT"/>
                <a:cs typeface="Arial MT"/>
              </a:rPr>
              <a:t>risk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50">
                <a:latin typeface="Arial MT"/>
                <a:cs typeface="Arial MT"/>
              </a:rPr>
              <a:t>assessment? </a:t>
            </a:r>
            <a:r>
              <a:rPr dirty="0" sz="1800" spc="45">
                <a:latin typeface="Arial MT"/>
                <a:cs typeface="Arial MT"/>
              </a:rPr>
              <a:t>measurement?</a:t>
            </a:r>
            <a:endParaRPr sz="1800">
              <a:latin typeface="Arial MT"/>
              <a:cs typeface="Arial MT"/>
            </a:endParaRPr>
          </a:p>
          <a:p>
            <a:pPr marL="4246880">
              <a:lnSpc>
                <a:spcPct val="100000"/>
              </a:lnSpc>
              <a:spcBef>
                <a:spcPts val="740"/>
              </a:spcBef>
            </a:pPr>
            <a:r>
              <a:rPr dirty="0" sz="1800" spc="65">
                <a:latin typeface="Arial MT"/>
                <a:cs typeface="Arial MT"/>
              </a:rPr>
              <a:t>cost</a:t>
            </a:r>
            <a:r>
              <a:rPr dirty="0" sz="1800" spc="40">
                <a:latin typeface="Arial MT"/>
                <a:cs typeface="Arial MT"/>
              </a:rPr>
              <a:t> estimation?</a:t>
            </a:r>
            <a:endParaRPr sz="1800">
              <a:latin typeface="Arial MT"/>
              <a:cs typeface="Arial MT"/>
            </a:endParaRPr>
          </a:p>
          <a:p>
            <a:pPr marL="4343400" marR="641350" indent="109220">
              <a:lnSpc>
                <a:spcPts val="3300"/>
              </a:lnSpc>
              <a:spcBef>
                <a:spcPts val="300"/>
              </a:spcBef>
            </a:pPr>
            <a:r>
              <a:rPr dirty="0" sz="1800" spc="55">
                <a:latin typeface="Arial MT"/>
                <a:cs typeface="Arial MT"/>
              </a:rPr>
              <a:t>project</a:t>
            </a:r>
            <a:r>
              <a:rPr dirty="0" sz="1800" spc="60">
                <a:latin typeface="Arial MT"/>
                <a:cs typeface="Arial MT"/>
              </a:rPr>
              <a:t> </a:t>
            </a:r>
            <a:r>
              <a:rPr dirty="0" sz="1800" spc="50">
                <a:latin typeface="Arial MT"/>
                <a:cs typeface="Arial MT"/>
              </a:rPr>
              <a:t>scheduling? </a:t>
            </a:r>
            <a:r>
              <a:rPr dirty="0" sz="1800" spc="55">
                <a:latin typeface="Arial MT"/>
                <a:cs typeface="Arial MT"/>
              </a:rPr>
              <a:t>customer</a:t>
            </a:r>
            <a:r>
              <a:rPr dirty="0" sz="1800" spc="45">
                <a:latin typeface="Arial MT"/>
                <a:cs typeface="Arial MT"/>
              </a:rPr>
              <a:t> </a:t>
            </a:r>
            <a:r>
              <a:rPr dirty="0" sz="1800" spc="40">
                <a:latin typeface="Arial MT"/>
                <a:cs typeface="Arial MT"/>
              </a:rPr>
              <a:t>communication?</a:t>
            </a:r>
            <a:endParaRPr sz="1800">
              <a:latin typeface="Arial MT"/>
              <a:cs typeface="Arial MT"/>
            </a:endParaRPr>
          </a:p>
          <a:p>
            <a:pPr marL="4205605">
              <a:lnSpc>
                <a:spcPct val="100000"/>
              </a:lnSpc>
              <a:spcBef>
                <a:spcPts val="640"/>
              </a:spcBef>
            </a:pPr>
            <a:r>
              <a:rPr dirty="0" sz="1800" spc="45">
                <a:latin typeface="Arial MT"/>
                <a:cs typeface="Arial MT"/>
              </a:rPr>
              <a:t>staffing?</a:t>
            </a:r>
            <a:endParaRPr sz="1800">
              <a:latin typeface="Arial MT"/>
              <a:cs typeface="Arial MT"/>
            </a:endParaRPr>
          </a:p>
          <a:p>
            <a:pPr marL="3118485" marR="2429510" indent="426084">
              <a:lnSpc>
                <a:spcPct val="129700"/>
              </a:lnSpc>
              <a:spcBef>
                <a:spcPts val="495"/>
              </a:spcBef>
            </a:pPr>
            <a:r>
              <a:rPr dirty="0" sz="1800" spc="60">
                <a:latin typeface="Arial MT"/>
                <a:cs typeface="Arial MT"/>
              </a:rPr>
              <a:t>other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55">
                <a:latin typeface="Arial MT"/>
                <a:cs typeface="Arial MT"/>
              </a:rPr>
              <a:t>resources? project</a:t>
            </a:r>
            <a:r>
              <a:rPr dirty="0" sz="1800" spc="60">
                <a:latin typeface="Arial MT"/>
                <a:cs typeface="Arial MT"/>
              </a:rPr>
              <a:t> </a:t>
            </a:r>
            <a:r>
              <a:rPr dirty="0" sz="1800" spc="40">
                <a:latin typeface="Arial MT"/>
                <a:cs typeface="Arial MT"/>
              </a:rPr>
              <a:t>monitoring?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077719" y="2658731"/>
            <a:ext cx="2435860" cy="723900"/>
          </a:xfrm>
          <a:custGeom>
            <a:avLst/>
            <a:gdLst/>
            <a:ahLst/>
            <a:cxnLst/>
            <a:rect l="l" t="t" r="r" b="b"/>
            <a:pathLst>
              <a:path w="2435860" h="723900">
                <a:moveTo>
                  <a:pt x="0" y="495387"/>
                </a:moveTo>
                <a:lnTo>
                  <a:pt x="1733881" y="0"/>
                </a:lnTo>
              </a:path>
              <a:path w="2435860" h="723900">
                <a:moveTo>
                  <a:pt x="82710" y="723863"/>
                </a:moveTo>
                <a:lnTo>
                  <a:pt x="2435668" y="685678"/>
                </a:lnTo>
              </a:path>
            </a:pathLst>
          </a:custGeom>
          <a:ln w="131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4344" y="454151"/>
            <a:ext cx="2951988" cy="10698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559" rIns="0" bIns="0" rtlCol="0" vert="horz">
            <a:spAutoFit/>
          </a:bodyPr>
          <a:lstStyle/>
          <a:p>
            <a:pPr marL="359029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Mengelola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151026" y="1613179"/>
            <a:ext cx="4573270" cy="2586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501650" indent="-488950">
              <a:lnSpc>
                <a:spcPct val="100000"/>
              </a:lnSpc>
              <a:spcBef>
                <a:spcPts val="775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Waktu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800" spc="-10" i="1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0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Informasi</a:t>
            </a:r>
            <a:r>
              <a:rPr dirty="0" sz="28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800" spc="-10" i="1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5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Organisasi</a:t>
            </a:r>
            <a:r>
              <a:rPr dirty="0" sz="28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800" spc="-10" i="1">
                <a:solidFill>
                  <a:srgbClr val="FFFFFF"/>
                </a:solidFill>
                <a:latin typeface="Arial"/>
                <a:cs typeface="Arial"/>
              </a:rPr>
              <a:t>Organization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0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Kualitas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800" spc="-10" i="1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501650" indent="-488950">
              <a:lnSpc>
                <a:spcPct val="100000"/>
              </a:lnSpc>
              <a:spcBef>
                <a:spcPts val="675"/>
              </a:spcBef>
              <a:buSzPct val="50000"/>
              <a:buFont typeface="Wingdings"/>
              <a:buChar char=""/>
              <a:tabLst>
                <a:tab pos="501650" algn="l"/>
              </a:tabLst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Uang</a:t>
            </a:r>
            <a:r>
              <a:rPr dirty="0" sz="28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800" spc="-10" i="1">
                <a:solidFill>
                  <a:srgbClr val="FFFFFF"/>
                </a:solidFill>
                <a:latin typeface="Arial"/>
                <a:cs typeface="Arial"/>
              </a:rPr>
              <a:t>Money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883" y="293319"/>
            <a:ext cx="59474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DASAR-</a:t>
            </a:r>
            <a:r>
              <a:rPr dirty="0" sz="4000"/>
              <a:t>DASAR</a:t>
            </a:r>
            <a:r>
              <a:rPr dirty="0" sz="4000" spc="20"/>
              <a:t> </a:t>
            </a:r>
            <a:r>
              <a:rPr dirty="0" sz="4000" spc="-10"/>
              <a:t>PROYEK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2938272" y="1341119"/>
            <a:ext cx="4011295" cy="502920"/>
          </a:xfrm>
          <a:custGeom>
            <a:avLst/>
            <a:gdLst/>
            <a:ahLst/>
            <a:cxnLst/>
            <a:rect l="l" t="t" r="r" b="b"/>
            <a:pathLst>
              <a:path w="4011295" h="502919">
                <a:moveTo>
                  <a:pt x="0" y="502920"/>
                </a:moveTo>
                <a:lnTo>
                  <a:pt x="4011168" y="502920"/>
                </a:lnTo>
                <a:lnTo>
                  <a:pt x="4011168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654044" y="1324102"/>
            <a:ext cx="2576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Memulai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Proyek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78835" y="2421635"/>
            <a:ext cx="4135120" cy="86296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46050">
              <a:lnSpc>
                <a:spcPts val="2870"/>
              </a:lnSpc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Menentukan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Kelayakan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77311" y="3916679"/>
            <a:ext cx="4135120" cy="86296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701040" marR="694055" indent="303530">
              <a:lnSpc>
                <a:spcPts val="2590"/>
              </a:lnSpc>
              <a:spcBef>
                <a:spcPts val="32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Menjadwalkan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Merencanakan</a:t>
            </a:r>
            <a:r>
              <a:rPr dirty="0" sz="24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60548" y="5399532"/>
            <a:ext cx="4198620" cy="93599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04265" marR="621665" indent="-477520">
              <a:lnSpc>
                <a:spcPts val="2590"/>
              </a:lnSpc>
              <a:spcBef>
                <a:spcPts val="32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Mengelolah</a:t>
            </a:r>
            <a:r>
              <a:rPr dirty="0" sz="2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Kegiatan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Anggota</a:t>
            </a:r>
            <a:r>
              <a:rPr dirty="0" sz="2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671827" y="1408175"/>
            <a:ext cx="868680" cy="1774825"/>
            <a:chOff x="1671827" y="1408175"/>
            <a:chExt cx="868680" cy="1774825"/>
          </a:xfrm>
        </p:grpSpPr>
        <p:sp>
          <p:nvSpPr>
            <p:cNvPr id="9" name="object 9" descr=""/>
            <p:cNvSpPr/>
            <p:nvPr/>
          </p:nvSpPr>
          <p:spPr>
            <a:xfrm>
              <a:off x="1676399" y="2019934"/>
              <a:ext cx="859790" cy="1158240"/>
            </a:xfrm>
            <a:custGeom>
              <a:avLst/>
              <a:gdLst/>
              <a:ahLst/>
              <a:cxnLst/>
              <a:rect l="l" t="t" r="r" b="b"/>
              <a:pathLst>
                <a:path w="859789" h="1158239">
                  <a:moveTo>
                    <a:pt x="0" y="0"/>
                  </a:moveTo>
                  <a:lnTo>
                    <a:pt x="0" y="390270"/>
                  </a:lnTo>
                  <a:lnTo>
                    <a:pt x="2106" y="432876"/>
                  </a:lnTo>
                  <a:lnTo>
                    <a:pt x="8345" y="474844"/>
                  </a:lnTo>
                  <a:lnTo>
                    <a:pt x="18598" y="516058"/>
                  </a:lnTo>
                  <a:lnTo>
                    <a:pt x="32746" y="556398"/>
                  </a:lnTo>
                  <a:lnTo>
                    <a:pt x="50669" y="595744"/>
                  </a:lnTo>
                  <a:lnTo>
                    <a:pt x="72248" y="633979"/>
                  </a:lnTo>
                  <a:lnTo>
                    <a:pt x="97365" y="670983"/>
                  </a:lnTo>
                  <a:lnTo>
                    <a:pt x="125900" y="706637"/>
                  </a:lnTo>
                  <a:lnTo>
                    <a:pt x="157734" y="740822"/>
                  </a:lnTo>
                  <a:lnTo>
                    <a:pt x="192747" y="773420"/>
                  </a:lnTo>
                  <a:lnTo>
                    <a:pt x="230821" y="804312"/>
                  </a:lnTo>
                  <a:lnTo>
                    <a:pt x="271836" y="833378"/>
                  </a:lnTo>
                  <a:lnTo>
                    <a:pt x="315673" y="860500"/>
                  </a:lnTo>
                  <a:lnTo>
                    <a:pt x="362214" y="885559"/>
                  </a:lnTo>
                  <a:lnTo>
                    <a:pt x="411338" y="908436"/>
                  </a:lnTo>
                  <a:lnTo>
                    <a:pt x="462928" y="929013"/>
                  </a:lnTo>
                  <a:lnTo>
                    <a:pt x="516862" y="947169"/>
                  </a:lnTo>
                  <a:lnTo>
                    <a:pt x="573024" y="962787"/>
                  </a:lnTo>
                  <a:lnTo>
                    <a:pt x="573024" y="1157986"/>
                  </a:lnTo>
                  <a:lnTo>
                    <a:pt x="859536" y="802259"/>
                  </a:lnTo>
                  <a:lnTo>
                    <a:pt x="573024" y="377189"/>
                  </a:lnTo>
                  <a:lnTo>
                    <a:pt x="573024" y="572388"/>
                  </a:lnTo>
                  <a:lnTo>
                    <a:pt x="516862" y="556791"/>
                  </a:lnTo>
                  <a:lnTo>
                    <a:pt x="462928" y="538652"/>
                  </a:lnTo>
                  <a:lnTo>
                    <a:pt x="411338" y="518092"/>
                  </a:lnTo>
                  <a:lnTo>
                    <a:pt x="362214" y="495229"/>
                  </a:lnTo>
                  <a:lnTo>
                    <a:pt x="315673" y="470181"/>
                  </a:lnTo>
                  <a:lnTo>
                    <a:pt x="271836" y="443070"/>
                  </a:lnTo>
                  <a:lnTo>
                    <a:pt x="230821" y="414012"/>
                  </a:lnTo>
                  <a:lnTo>
                    <a:pt x="192747" y="383127"/>
                  </a:lnTo>
                  <a:lnTo>
                    <a:pt x="157734" y="350535"/>
                  </a:lnTo>
                  <a:lnTo>
                    <a:pt x="125900" y="316355"/>
                  </a:lnTo>
                  <a:lnTo>
                    <a:pt x="97365" y="280704"/>
                  </a:lnTo>
                  <a:lnTo>
                    <a:pt x="72248" y="243703"/>
                  </a:lnTo>
                  <a:lnTo>
                    <a:pt x="50669" y="205470"/>
                  </a:lnTo>
                  <a:lnTo>
                    <a:pt x="32746" y="166125"/>
                  </a:lnTo>
                  <a:lnTo>
                    <a:pt x="18598" y="125787"/>
                  </a:lnTo>
                  <a:lnTo>
                    <a:pt x="8345" y="84573"/>
                  </a:lnTo>
                  <a:lnTo>
                    <a:pt x="2106" y="42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00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76193" y="1412747"/>
              <a:ext cx="859790" cy="802640"/>
            </a:xfrm>
            <a:custGeom>
              <a:avLst/>
              <a:gdLst/>
              <a:ahLst/>
              <a:cxnLst/>
              <a:rect l="l" t="t" r="r" b="b"/>
              <a:pathLst>
                <a:path w="859789" h="802639">
                  <a:moveTo>
                    <a:pt x="859742" y="0"/>
                  </a:moveTo>
                  <a:lnTo>
                    <a:pt x="812822" y="907"/>
                  </a:lnTo>
                  <a:lnTo>
                    <a:pt x="766111" y="3621"/>
                  </a:lnTo>
                  <a:lnTo>
                    <a:pt x="719709" y="8127"/>
                  </a:lnTo>
                  <a:lnTo>
                    <a:pt x="673720" y="14412"/>
                  </a:lnTo>
                  <a:lnTo>
                    <a:pt x="628247" y="22460"/>
                  </a:lnTo>
                  <a:lnTo>
                    <a:pt x="583390" y="32257"/>
                  </a:lnTo>
                  <a:lnTo>
                    <a:pt x="528310" y="46950"/>
                  </a:lnTo>
                  <a:lnTo>
                    <a:pt x="475484" y="63995"/>
                  </a:lnTo>
                  <a:lnTo>
                    <a:pt x="424993" y="83278"/>
                  </a:lnTo>
                  <a:lnTo>
                    <a:pt x="376917" y="104685"/>
                  </a:lnTo>
                  <a:lnTo>
                    <a:pt x="331336" y="128101"/>
                  </a:lnTo>
                  <a:lnTo>
                    <a:pt x="288330" y="153412"/>
                  </a:lnTo>
                  <a:lnTo>
                    <a:pt x="247979" y="180502"/>
                  </a:lnTo>
                  <a:lnTo>
                    <a:pt x="210363" y="209258"/>
                  </a:lnTo>
                  <a:lnTo>
                    <a:pt x="175563" y="239565"/>
                  </a:lnTo>
                  <a:lnTo>
                    <a:pt x="143657" y="271308"/>
                  </a:lnTo>
                  <a:lnTo>
                    <a:pt x="114727" y="304373"/>
                  </a:lnTo>
                  <a:lnTo>
                    <a:pt x="88852" y="338645"/>
                  </a:lnTo>
                  <a:lnTo>
                    <a:pt x="66113" y="374010"/>
                  </a:lnTo>
                  <a:lnTo>
                    <a:pt x="46589" y="410353"/>
                  </a:lnTo>
                  <a:lnTo>
                    <a:pt x="30360" y="447560"/>
                  </a:lnTo>
                  <a:lnTo>
                    <a:pt x="17507" y="485516"/>
                  </a:lnTo>
                  <a:lnTo>
                    <a:pt x="8109" y="524106"/>
                  </a:lnTo>
                  <a:lnTo>
                    <a:pt x="2246" y="563217"/>
                  </a:lnTo>
                  <a:lnTo>
                    <a:pt x="0" y="602733"/>
                  </a:lnTo>
                  <a:lnTo>
                    <a:pt x="1448" y="642540"/>
                  </a:lnTo>
                  <a:lnTo>
                    <a:pt x="6673" y="682523"/>
                  </a:lnTo>
                  <a:lnTo>
                    <a:pt x="15752" y="722568"/>
                  </a:lnTo>
                  <a:lnTo>
                    <a:pt x="28768" y="762560"/>
                  </a:lnTo>
                  <a:lnTo>
                    <a:pt x="45799" y="802386"/>
                  </a:lnTo>
                  <a:lnTo>
                    <a:pt x="65101" y="766045"/>
                  </a:lnTo>
                  <a:lnTo>
                    <a:pt x="87412" y="730979"/>
                  </a:lnTo>
                  <a:lnTo>
                    <a:pt x="112606" y="697253"/>
                  </a:lnTo>
                  <a:lnTo>
                    <a:pt x="140557" y="664929"/>
                  </a:lnTo>
                  <a:lnTo>
                    <a:pt x="171139" y="634071"/>
                  </a:lnTo>
                  <a:lnTo>
                    <a:pt x="204225" y="604743"/>
                  </a:lnTo>
                  <a:lnTo>
                    <a:pt x="239690" y="577008"/>
                  </a:lnTo>
                  <a:lnTo>
                    <a:pt x="277407" y="550930"/>
                  </a:lnTo>
                  <a:lnTo>
                    <a:pt x="317250" y="526572"/>
                  </a:lnTo>
                  <a:lnTo>
                    <a:pt x="359093" y="503999"/>
                  </a:lnTo>
                  <a:lnTo>
                    <a:pt x="402809" y="483274"/>
                  </a:lnTo>
                  <a:lnTo>
                    <a:pt x="448273" y="464460"/>
                  </a:lnTo>
                  <a:lnTo>
                    <a:pt x="495357" y="447621"/>
                  </a:lnTo>
                  <a:lnTo>
                    <a:pt x="543937" y="432821"/>
                  </a:lnTo>
                  <a:lnTo>
                    <a:pt x="593886" y="420123"/>
                  </a:lnTo>
                  <a:lnTo>
                    <a:pt x="645077" y="409592"/>
                  </a:lnTo>
                  <a:lnTo>
                    <a:pt x="697384" y="401290"/>
                  </a:lnTo>
                  <a:lnTo>
                    <a:pt x="750682" y="395281"/>
                  </a:lnTo>
                  <a:lnTo>
                    <a:pt x="804843" y="391629"/>
                  </a:lnTo>
                  <a:lnTo>
                    <a:pt x="859742" y="390398"/>
                  </a:lnTo>
                  <a:lnTo>
                    <a:pt x="859742" y="0"/>
                  </a:lnTo>
                  <a:close/>
                </a:path>
              </a:pathLst>
            </a:custGeom>
            <a:solidFill>
              <a:srgbClr val="CA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76399" y="1412747"/>
              <a:ext cx="859790" cy="1765300"/>
            </a:xfrm>
            <a:custGeom>
              <a:avLst/>
              <a:gdLst/>
              <a:ahLst/>
              <a:cxnLst/>
              <a:rect l="l" t="t" r="r" b="b"/>
              <a:pathLst>
                <a:path w="859789" h="1765300">
                  <a:moveTo>
                    <a:pt x="0" y="607187"/>
                  </a:moveTo>
                  <a:lnTo>
                    <a:pt x="2106" y="649792"/>
                  </a:lnTo>
                  <a:lnTo>
                    <a:pt x="8345" y="691760"/>
                  </a:lnTo>
                  <a:lnTo>
                    <a:pt x="18598" y="732974"/>
                  </a:lnTo>
                  <a:lnTo>
                    <a:pt x="32746" y="773312"/>
                  </a:lnTo>
                  <a:lnTo>
                    <a:pt x="50669" y="812657"/>
                  </a:lnTo>
                  <a:lnTo>
                    <a:pt x="72248" y="850890"/>
                  </a:lnTo>
                  <a:lnTo>
                    <a:pt x="97365" y="887891"/>
                  </a:lnTo>
                  <a:lnTo>
                    <a:pt x="125900" y="923542"/>
                  </a:lnTo>
                  <a:lnTo>
                    <a:pt x="157734" y="957722"/>
                  </a:lnTo>
                  <a:lnTo>
                    <a:pt x="192747" y="990314"/>
                  </a:lnTo>
                  <a:lnTo>
                    <a:pt x="230821" y="1021199"/>
                  </a:lnTo>
                  <a:lnTo>
                    <a:pt x="271836" y="1050257"/>
                  </a:lnTo>
                  <a:lnTo>
                    <a:pt x="315673" y="1077368"/>
                  </a:lnTo>
                  <a:lnTo>
                    <a:pt x="362214" y="1102416"/>
                  </a:lnTo>
                  <a:lnTo>
                    <a:pt x="411338" y="1125279"/>
                  </a:lnTo>
                  <a:lnTo>
                    <a:pt x="462928" y="1145839"/>
                  </a:lnTo>
                  <a:lnTo>
                    <a:pt x="516862" y="1163978"/>
                  </a:lnTo>
                  <a:lnTo>
                    <a:pt x="573024" y="1179576"/>
                  </a:lnTo>
                  <a:lnTo>
                    <a:pt x="573024" y="984376"/>
                  </a:lnTo>
                  <a:lnTo>
                    <a:pt x="859536" y="1409446"/>
                  </a:lnTo>
                  <a:lnTo>
                    <a:pt x="573024" y="1765173"/>
                  </a:lnTo>
                  <a:lnTo>
                    <a:pt x="573024" y="1569974"/>
                  </a:lnTo>
                  <a:lnTo>
                    <a:pt x="516862" y="1554356"/>
                  </a:lnTo>
                  <a:lnTo>
                    <a:pt x="462928" y="1536200"/>
                  </a:lnTo>
                  <a:lnTo>
                    <a:pt x="411338" y="1515623"/>
                  </a:lnTo>
                  <a:lnTo>
                    <a:pt x="362214" y="1492746"/>
                  </a:lnTo>
                  <a:lnTo>
                    <a:pt x="315673" y="1467687"/>
                  </a:lnTo>
                  <a:lnTo>
                    <a:pt x="271836" y="1440565"/>
                  </a:lnTo>
                  <a:lnTo>
                    <a:pt x="230821" y="1411499"/>
                  </a:lnTo>
                  <a:lnTo>
                    <a:pt x="192747" y="1380607"/>
                  </a:lnTo>
                  <a:lnTo>
                    <a:pt x="157734" y="1348009"/>
                  </a:lnTo>
                  <a:lnTo>
                    <a:pt x="125900" y="1313824"/>
                  </a:lnTo>
                  <a:lnTo>
                    <a:pt x="97365" y="1278170"/>
                  </a:lnTo>
                  <a:lnTo>
                    <a:pt x="72248" y="1241166"/>
                  </a:lnTo>
                  <a:lnTo>
                    <a:pt x="50669" y="1202931"/>
                  </a:lnTo>
                  <a:lnTo>
                    <a:pt x="32746" y="1163585"/>
                  </a:lnTo>
                  <a:lnTo>
                    <a:pt x="18598" y="1123245"/>
                  </a:lnTo>
                  <a:lnTo>
                    <a:pt x="8345" y="1082031"/>
                  </a:lnTo>
                  <a:lnTo>
                    <a:pt x="2106" y="1040063"/>
                  </a:lnTo>
                  <a:lnTo>
                    <a:pt x="0" y="997457"/>
                  </a:lnTo>
                  <a:lnTo>
                    <a:pt x="0" y="607187"/>
                  </a:lnTo>
                  <a:lnTo>
                    <a:pt x="1828" y="567256"/>
                  </a:lnTo>
                  <a:lnTo>
                    <a:pt x="7237" y="528017"/>
                  </a:lnTo>
                  <a:lnTo>
                    <a:pt x="16114" y="489548"/>
                  </a:lnTo>
                  <a:lnTo>
                    <a:pt x="28345" y="451930"/>
                  </a:lnTo>
                  <a:lnTo>
                    <a:pt x="43818" y="415243"/>
                  </a:lnTo>
                  <a:lnTo>
                    <a:pt x="62418" y="379566"/>
                  </a:lnTo>
                  <a:lnTo>
                    <a:pt x="84033" y="344979"/>
                  </a:lnTo>
                  <a:lnTo>
                    <a:pt x="108550" y="311563"/>
                  </a:lnTo>
                  <a:lnTo>
                    <a:pt x="135855" y="279397"/>
                  </a:lnTo>
                  <a:lnTo>
                    <a:pt x="165835" y="248561"/>
                  </a:lnTo>
                  <a:lnTo>
                    <a:pt x="198377" y="219135"/>
                  </a:lnTo>
                  <a:lnTo>
                    <a:pt x="233367" y="191199"/>
                  </a:lnTo>
                  <a:lnTo>
                    <a:pt x="270693" y="164834"/>
                  </a:lnTo>
                  <a:lnTo>
                    <a:pt x="310241" y="140118"/>
                  </a:lnTo>
                  <a:lnTo>
                    <a:pt x="351897" y="117132"/>
                  </a:lnTo>
                  <a:lnTo>
                    <a:pt x="395549" y="95956"/>
                  </a:lnTo>
                  <a:lnTo>
                    <a:pt x="441084" y="76670"/>
                  </a:lnTo>
                  <a:lnTo>
                    <a:pt x="488387" y="59353"/>
                  </a:lnTo>
                  <a:lnTo>
                    <a:pt x="537347" y="44086"/>
                  </a:lnTo>
                  <a:lnTo>
                    <a:pt x="587849" y="30948"/>
                  </a:lnTo>
                  <a:lnTo>
                    <a:pt x="639780" y="20020"/>
                  </a:lnTo>
                  <a:lnTo>
                    <a:pt x="693028" y="11381"/>
                  </a:lnTo>
                  <a:lnTo>
                    <a:pt x="747479" y="5111"/>
                  </a:lnTo>
                  <a:lnTo>
                    <a:pt x="803019" y="1291"/>
                  </a:lnTo>
                  <a:lnTo>
                    <a:pt x="859536" y="0"/>
                  </a:lnTo>
                  <a:lnTo>
                    <a:pt x="859536" y="390398"/>
                  </a:lnTo>
                  <a:lnTo>
                    <a:pt x="804636" y="391629"/>
                  </a:lnTo>
                  <a:lnTo>
                    <a:pt x="750475" y="395281"/>
                  </a:lnTo>
                  <a:lnTo>
                    <a:pt x="697177" y="401290"/>
                  </a:lnTo>
                  <a:lnTo>
                    <a:pt x="644870" y="409592"/>
                  </a:lnTo>
                  <a:lnTo>
                    <a:pt x="593679" y="420123"/>
                  </a:lnTo>
                  <a:lnTo>
                    <a:pt x="543730" y="432821"/>
                  </a:lnTo>
                  <a:lnTo>
                    <a:pt x="495151" y="447621"/>
                  </a:lnTo>
                  <a:lnTo>
                    <a:pt x="448066" y="464460"/>
                  </a:lnTo>
                  <a:lnTo>
                    <a:pt x="402602" y="483274"/>
                  </a:lnTo>
                  <a:lnTo>
                    <a:pt x="358886" y="503999"/>
                  </a:lnTo>
                  <a:lnTo>
                    <a:pt x="317043" y="526572"/>
                  </a:lnTo>
                  <a:lnTo>
                    <a:pt x="277200" y="550930"/>
                  </a:lnTo>
                  <a:lnTo>
                    <a:pt x="239483" y="577008"/>
                  </a:lnTo>
                  <a:lnTo>
                    <a:pt x="204018" y="604743"/>
                  </a:lnTo>
                  <a:lnTo>
                    <a:pt x="170932" y="634071"/>
                  </a:lnTo>
                  <a:lnTo>
                    <a:pt x="140350" y="664929"/>
                  </a:lnTo>
                  <a:lnTo>
                    <a:pt x="112399" y="697253"/>
                  </a:lnTo>
                  <a:lnTo>
                    <a:pt x="87205" y="730979"/>
                  </a:lnTo>
                  <a:lnTo>
                    <a:pt x="64894" y="766045"/>
                  </a:lnTo>
                  <a:lnTo>
                    <a:pt x="45593" y="802386"/>
                  </a:lnTo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272528" y="2560320"/>
            <a:ext cx="788035" cy="2056764"/>
            <a:chOff x="7272528" y="2560320"/>
            <a:chExt cx="788035" cy="2056764"/>
          </a:xfrm>
        </p:grpSpPr>
        <p:sp>
          <p:nvSpPr>
            <p:cNvPr id="13" name="object 13" descr=""/>
            <p:cNvSpPr/>
            <p:nvPr/>
          </p:nvSpPr>
          <p:spPr>
            <a:xfrm>
              <a:off x="7277100" y="3495802"/>
              <a:ext cx="779145" cy="1116965"/>
            </a:xfrm>
            <a:custGeom>
              <a:avLst/>
              <a:gdLst/>
              <a:ahLst/>
              <a:cxnLst/>
              <a:rect l="l" t="t" r="r" b="b"/>
              <a:pathLst>
                <a:path w="779145" h="1116964">
                  <a:moveTo>
                    <a:pt x="737743" y="0"/>
                  </a:moveTo>
                  <a:lnTo>
                    <a:pt x="719825" y="43244"/>
                  </a:lnTo>
                  <a:lnTo>
                    <a:pt x="698966" y="85061"/>
                  </a:lnTo>
                  <a:lnTo>
                    <a:pt x="675277" y="125350"/>
                  </a:lnTo>
                  <a:lnTo>
                    <a:pt x="648868" y="164011"/>
                  </a:lnTo>
                  <a:lnTo>
                    <a:pt x="619851" y="200941"/>
                  </a:lnTo>
                  <a:lnTo>
                    <a:pt x="588336" y="236041"/>
                  </a:lnTo>
                  <a:lnTo>
                    <a:pt x="554434" y="269208"/>
                  </a:lnTo>
                  <a:lnTo>
                    <a:pt x="518255" y="300342"/>
                  </a:lnTo>
                  <a:lnTo>
                    <a:pt x="479911" y="329341"/>
                  </a:lnTo>
                  <a:lnTo>
                    <a:pt x="439513" y="356105"/>
                  </a:lnTo>
                  <a:lnTo>
                    <a:pt x="397170" y="380532"/>
                  </a:lnTo>
                  <a:lnTo>
                    <a:pt x="352995" y="402522"/>
                  </a:lnTo>
                  <a:lnTo>
                    <a:pt x="307097" y="421973"/>
                  </a:lnTo>
                  <a:lnTo>
                    <a:pt x="259588" y="438785"/>
                  </a:lnTo>
                  <a:lnTo>
                    <a:pt x="259588" y="212852"/>
                  </a:lnTo>
                  <a:lnTo>
                    <a:pt x="0" y="705104"/>
                  </a:lnTo>
                  <a:lnTo>
                    <a:pt x="259588" y="1116711"/>
                  </a:lnTo>
                  <a:lnTo>
                    <a:pt x="259588" y="890651"/>
                  </a:lnTo>
                  <a:lnTo>
                    <a:pt x="306861" y="873959"/>
                  </a:lnTo>
                  <a:lnTo>
                    <a:pt x="352264" y="854808"/>
                  </a:lnTo>
                  <a:lnTo>
                    <a:pt x="395734" y="833312"/>
                  </a:lnTo>
                  <a:lnTo>
                    <a:pt x="437209" y="809587"/>
                  </a:lnTo>
                  <a:lnTo>
                    <a:pt x="476626" y="783746"/>
                  </a:lnTo>
                  <a:lnTo>
                    <a:pt x="513926" y="755906"/>
                  </a:lnTo>
                  <a:lnTo>
                    <a:pt x="549044" y="726181"/>
                  </a:lnTo>
                  <a:lnTo>
                    <a:pt x="581920" y="694686"/>
                  </a:lnTo>
                  <a:lnTo>
                    <a:pt x="612492" y="661537"/>
                  </a:lnTo>
                  <a:lnTo>
                    <a:pt x="640697" y="626848"/>
                  </a:lnTo>
                  <a:lnTo>
                    <a:pt x="666474" y="590735"/>
                  </a:lnTo>
                  <a:lnTo>
                    <a:pt x="689762" y="553312"/>
                  </a:lnTo>
                  <a:lnTo>
                    <a:pt x="710497" y="514695"/>
                  </a:lnTo>
                  <a:lnTo>
                    <a:pt x="728618" y="474998"/>
                  </a:lnTo>
                  <a:lnTo>
                    <a:pt x="744064" y="434337"/>
                  </a:lnTo>
                  <a:lnTo>
                    <a:pt x="756772" y="392827"/>
                  </a:lnTo>
                  <a:lnTo>
                    <a:pt x="766681" y="350583"/>
                  </a:lnTo>
                  <a:lnTo>
                    <a:pt x="773728" y="307719"/>
                  </a:lnTo>
                  <a:lnTo>
                    <a:pt x="777852" y="264351"/>
                  </a:lnTo>
                  <a:lnTo>
                    <a:pt x="778991" y="220594"/>
                  </a:lnTo>
                  <a:lnTo>
                    <a:pt x="777083" y="176563"/>
                  </a:lnTo>
                  <a:lnTo>
                    <a:pt x="772066" y="132373"/>
                  </a:lnTo>
                  <a:lnTo>
                    <a:pt x="763878" y="88139"/>
                  </a:lnTo>
                  <a:lnTo>
                    <a:pt x="752458" y="43976"/>
                  </a:lnTo>
                  <a:lnTo>
                    <a:pt x="737743" y="0"/>
                  </a:lnTo>
                  <a:close/>
                </a:path>
              </a:pathLst>
            </a:custGeom>
            <a:solidFill>
              <a:srgbClr val="FB00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77100" y="2564892"/>
              <a:ext cx="779145" cy="1156970"/>
            </a:xfrm>
            <a:custGeom>
              <a:avLst/>
              <a:gdLst/>
              <a:ahLst/>
              <a:cxnLst/>
              <a:rect l="l" t="t" r="r" b="b"/>
              <a:pathLst>
                <a:path w="779145" h="1156970">
                  <a:moveTo>
                    <a:pt x="0" y="0"/>
                  </a:moveTo>
                  <a:lnTo>
                    <a:pt x="0" y="451866"/>
                  </a:lnTo>
                  <a:lnTo>
                    <a:pt x="51209" y="453365"/>
                  </a:lnTo>
                  <a:lnTo>
                    <a:pt x="101533" y="457803"/>
                  </a:lnTo>
                  <a:lnTo>
                    <a:pt x="150869" y="465086"/>
                  </a:lnTo>
                  <a:lnTo>
                    <a:pt x="199115" y="475121"/>
                  </a:lnTo>
                  <a:lnTo>
                    <a:pt x="246168" y="487816"/>
                  </a:lnTo>
                  <a:lnTo>
                    <a:pt x="291926" y="503076"/>
                  </a:lnTo>
                  <a:lnTo>
                    <a:pt x="336285" y="520810"/>
                  </a:lnTo>
                  <a:lnTo>
                    <a:pt x="379144" y="540923"/>
                  </a:lnTo>
                  <a:lnTo>
                    <a:pt x="420399" y="563325"/>
                  </a:lnTo>
                  <a:lnTo>
                    <a:pt x="459949" y="587920"/>
                  </a:lnTo>
                  <a:lnTo>
                    <a:pt x="497690" y="614617"/>
                  </a:lnTo>
                  <a:lnTo>
                    <a:pt x="533521" y="643322"/>
                  </a:lnTo>
                  <a:lnTo>
                    <a:pt x="567338" y="673943"/>
                  </a:lnTo>
                  <a:lnTo>
                    <a:pt x="599039" y="706387"/>
                  </a:lnTo>
                  <a:lnTo>
                    <a:pt x="628521" y="740560"/>
                  </a:lnTo>
                  <a:lnTo>
                    <a:pt x="655683" y="776370"/>
                  </a:lnTo>
                  <a:lnTo>
                    <a:pt x="680421" y="813723"/>
                  </a:lnTo>
                  <a:lnTo>
                    <a:pt x="702632" y="852527"/>
                  </a:lnTo>
                  <a:lnTo>
                    <a:pt x="722215" y="892689"/>
                  </a:lnTo>
                  <a:lnTo>
                    <a:pt x="739066" y="934116"/>
                  </a:lnTo>
                  <a:lnTo>
                    <a:pt x="753084" y="976715"/>
                  </a:lnTo>
                  <a:lnTo>
                    <a:pt x="764165" y="1020392"/>
                  </a:lnTo>
                  <a:lnTo>
                    <a:pt x="772207" y="1065056"/>
                  </a:lnTo>
                  <a:lnTo>
                    <a:pt x="777107" y="1110613"/>
                  </a:lnTo>
                  <a:lnTo>
                    <a:pt x="778764" y="1156970"/>
                  </a:lnTo>
                  <a:lnTo>
                    <a:pt x="778764" y="704977"/>
                  </a:lnTo>
                  <a:lnTo>
                    <a:pt x="777107" y="658620"/>
                  </a:lnTo>
                  <a:lnTo>
                    <a:pt x="772207" y="613065"/>
                  </a:lnTo>
                  <a:lnTo>
                    <a:pt x="764165" y="568404"/>
                  </a:lnTo>
                  <a:lnTo>
                    <a:pt x="753084" y="524730"/>
                  </a:lnTo>
                  <a:lnTo>
                    <a:pt x="739066" y="482136"/>
                  </a:lnTo>
                  <a:lnTo>
                    <a:pt x="722215" y="440715"/>
                  </a:lnTo>
                  <a:lnTo>
                    <a:pt x="702632" y="400558"/>
                  </a:lnTo>
                  <a:lnTo>
                    <a:pt x="680421" y="361761"/>
                  </a:lnTo>
                  <a:lnTo>
                    <a:pt x="655683" y="324414"/>
                  </a:lnTo>
                  <a:lnTo>
                    <a:pt x="628521" y="288612"/>
                  </a:lnTo>
                  <a:lnTo>
                    <a:pt x="599039" y="254446"/>
                  </a:lnTo>
                  <a:lnTo>
                    <a:pt x="567338" y="222010"/>
                  </a:lnTo>
                  <a:lnTo>
                    <a:pt x="533521" y="191397"/>
                  </a:lnTo>
                  <a:lnTo>
                    <a:pt x="497690" y="162699"/>
                  </a:lnTo>
                  <a:lnTo>
                    <a:pt x="459949" y="136009"/>
                  </a:lnTo>
                  <a:lnTo>
                    <a:pt x="420399" y="111421"/>
                  </a:lnTo>
                  <a:lnTo>
                    <a:pt x="379144" y="89027"/>
                  </a:lnTo>
                  <a:lnTo>
                    <a:pt x="336285" y="68919"/>
                  </a:lnTo>
                  <a:lnTo>
                    <a:pt x="291926" y="51192"/>
                  </a:lnTo>
                  <a:lnTo>
                    <a:pt x="246168" y="35936"/>
                  </a:lnTo>
                  <a:lnTo>
                    <a:pt x="199115" y="23247"/>
                  </a:lnTo>
                  <a:lnTo>
                    <a:pt x="150869" y="13215"/>
                  </a:lnTo>
                  <a:lnTo>
                    <a:pt x="101533" y="5935"/>
                  </a:lnTo>
                  <a:lnTo>
                    <a:pt x="51209" y="1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77100" y="2564892"/>
              <a:ext cx="779145" cy="2047875"/>
            </a:xfrm>
            <a:custGeom>
              <a:avLst/>
              <a:gdLst/>
              <a:ahLst/>
              <a:cxnLst/>
              <a:rect l="l" t="t" r="r" b="b"/>
              <a:pathLst>
                <a:path w="779145" h="2047875">
                  <a:moveTo>
                    <a:pt x="778764" y="1156970"/>
                  </a:moveTo>
                  <a:lnTo>
                    <a:pt x="777107" y="1110613"/>
                  </a:lnTo>
                  <a:lnTo>
                    <a:pt x="772207" y="1065056"/>
                  </a:lnTo>
                  <a:lnTo>
                    <a:pt x="764165" y="1020392"/>
                  </a:lnTo>
                  <a:lnTo>
                    <a:pt x="753084" y="976715"/>
                  </a:lnTo>
                  <a:lnTo>
                    <a:pt x="739066" y="934116"/>
                  </a:lnTo>
                  <a:lnTo>
                    <a:pt x="722215" y="892689"/>
                  </a:lnTo>
                  <a:lnTo>
                    <a:pt x="702632" y="852527"/>
                  </a:lnTo>
                  <a:lnTo>
                    <a:pt x="680421" y="813723"/>
                  </a:lnTo>
                  <a:lnTo>
                    <a:pt x="655683" y="776370"/>
                  </a:lnTo>
                  <a:lnTo>
                    <a:pt x="628521" y="740560"/>
                  </a:lnTo>
                  <a:lnTo>
                    <a:pt x="599039" y="706387"/>
                  </a:lnTo>
                  <a:lnTo>
                    <a:pt x="567338" y="673943"/>
                  </a:lnTo>
                  <a:lnTo>
                    <a:pt x="533521" y="643322"/>
                  </a:lnTo>
                  <a:lnTo>
                    <a:pt x="497690" y="614617"/>
                  </a:lnTo>
                  <a:lnTo>
                    <a:pt x="459949" y="587920"/>
                  </a:lnTo>
                  <a:lnTo>
                    <a:pt x="420399" y="563325"/>
                  </a:lnTo>
                  <a:lnTo>
                    <a:pt x="379144" y="540923"/>
                  </a:lnTo>
                  <a:lnTo>
                    <a:pt x="336285" y="520810"/>
                  </a:lnTo>
                  <a:lnTo>
                    <a:pt x="291926" y="503076"/>
                  </a:lnTo>
                  <a:lnTo>
                    <a:pt x="246168" y="487816"/>
                  </a:lnTo>
                  <a:lnTo>
                    <a:pt x="199115" y="475121"/>
                  </a:lnTo>
                  <a:lnTo>
                    <a:pt x="150869" y="465086"/>
                  </a:lnTo>
                  <a:lnTo>
                    <a:pt x="101533" y="457803"/>
                  </a:lnTo>
                  <a:lnTo>
                    <a:pt x="51209" y="453365"/>
                  </a:lnTo>
                  <a:lnTo>
                    <a:pt x="0" y="451866"/>
                  </a:lnTo>
                  <a:lnTo>
                    <a:pt x="0" y="0"/>
                  </a:lnTo>
                  <a:lnTo>
                    <a:pt x="51209" y="1499"/>
                  </a:lnTo>
                  <a:lnTo>
                    <a:pt x="101533" y="5935"/>
                  </a:lnTo>
                  <a:lnTo>
                    <a:pt x="150869" y="13215"/>
                  </a:lnTo>
                  <a:lnTo>
                    <a:pt x="199115" y="23247"/>
                  </a:lnTo>
                  <a:lnTo>
                    <a:pt x="246168" y="35936"/>
                  </a:lnTo>
                  <a:lnTo>
                    <a:pt x="291926" y="51192"/>
                  </a:lnTo>
                  <a:lnTo>
                    <a:pt x="336285" y="68919"/>
                  </a:lnTo>
                  <a:lnTo>
                    <a:pt x="379144" y="89027"/>
                  </a:lnTo>
                  <a:lnTo>
                    <a:pt x="420399" y="111421"/>
                  </a:lnTo>
                  <a:lnTo>
                    <a:pt x="459949" y="136009"/>
                  </a:lnTo>
                  <a:lnTo>
                    <a:pt x="497690" y="162699"/>
                  </a:lnTo>
                  <a:lnTo>
                    <a:pt x="533521" y="191397"/>
                  </a:lnTo>
                  <a:lnTo>
                    <a:pt x="567338" y="222010"/>
                  </a:lnTo>
                  <a:lnTo>
                    <a:pt x="599039" y="254446"/>
                  </a:lnTo>
                  <a:lnTo>
                    <a:pt x="628521" y="288612"/>
                  </a:lnTo>
                  <a:lnTo>
                    <a:pt x="655683" y="324414"/>
                  </a:lnTo>
                  <a:lnTo>
                    <a:pt x="680421" y="361761"/>
                  </a:lnTo>
                  <a:lnTo>
                    <a:pt x="702632" y="400558"/>
                  </a:lnTo>
                  <a:lnTo>
                    <a:pt x="722215" y="440715"/>
                  </a:lnTo>
                  <a:lnTo>
                    <a:pt x="739066" y="482136"/>
                  </a:lnTo>
                  <a:lnTo>
                    <a:pt x="753084" y="524730"/>
                  </a:lnTo>
                  <a:lnTo>
                    <a:pt x="764165" y="568404"/>
                  </a:lnTo>
                  <a:lnTo>
                    <a:pt x="772207" y="613065"/>
                  </a:lnTo>
                  <a:lnTo>
                    <a:pt x="777107" y="658620"/>
                  </a:lnTo>
                  <a:lnTo>
                    <a:pt x="778764" y="704977"/>
                  </a:lnTo>
                  <a:lnTo>
                    <a:pt x="778764" y="1156970"/>
                  </a:lnTo>
                  <a:lnTo>
                    <a:pt x="777050" y="1203845"/>
                  </a:lnTo>
                  <a:lnTo>
                    <a:pt x="771971" y="1250064"/>
                  </a:lnTo>
                  <a:lnTo>
                    <a:pt x="763618" y="1295510"/>
                  </a:lnTo>
                  <a:lnTo>
                    <a:pt x="752082" y="1340065"/>
                  </a:lnTo>
                  <a:lnTo>
                    <a:pt x="737457" y="1383612"/>
                  </a:lnTo>
                  <a:lnTo>
                    <a:pt x="719832" y="1426032"/>
                  </a:lnTo>
                  <a:lnTo>
                    <a:pt x="699301" y="1467210"/>
                  </a:lnTo>
                  <a:lnTo>
                    <a:pt x="675954" y="1507026"/>
                  </a:lnTo>
                  <a:lnTo>
                    <a:pt x="649884" y="1545363"/>
                  </a:lnTo>
                  <a:lnTo>
                    <a:pt x="621183" y="1582105"/>
                  </a:lnTo>
                  <a:lnTo>
                    <a:pt x="589941" y="1617133"/>
                  </a:lnTo>
                  <a:lnTo>
                    <a:pt x="556252" y="1650330"/>
                  </a:lnTo>
                  <a:lnTo>
                    <a:pt x="520206" y="1681578"/>
                  </a:lnTo>
                  <a:lnTo>
                    <a:pt x="481896" y="1710759"/>
                  </a:lnTo>
                  <a:lnTo>
                    <a:pt x="441413" y="1737757"/>
                  </a:lnTo>
                  <a:lnTo>
                    <a:pt x="398849" y="1762454"/>
                  </a:lnTo>
                  <a:lnTo>
                    <a:pt x="354295" y="1784732"/>
                  </a:lnTo>
                  <a:lnTo>
                    <a:pt x="307844" y="1804473"/>
                  </a:lnTo>
                  <a:lnTo>
                    <a:pt x="259588" y="1821561"/>
                  </a:lnTo>
                  <a:lnTo>
                    <a:pt x="259588" y="2047621"/>
                  </a:lnTo>
                  <a:lnTo>
                    <a:pt x="0" y="1636014"/>
                  </a:lnTo>
                  <a:lnTo>
                    <a:pt x="259588" y="1143762"/>
                  </a:lnTo>
                  <a:lnTo>
                    <a:pt x="259588" y="1369695"/>
                  </a:lnTo>
                  <a:lnTo>
                    <a:pt x="307097" y="1352883"/>
                  </a:lnTo>
                  <a:lnTo>
                    <a:pt x="352995" y="1333432"/>
                  </a:lnTo>
                  <a:lnTo>
                    <a:pt x="397170" y="1311442"/>
                  </a:lnTo>
                  <a:lnTo>
                    <a:pt x="439513" y="1287015"/>
                  </a:lnTo>
                  <a:lnTo>
                    <a:pt x="479911" y="1260251"/>
                  </a:lnTo>
                  <a:lnTo>
                    <a:pt x="518255" y="1231252"/>
                  </a:lnTo>
                  <a:lnTo>
                    <a:pt x="554434" y="1200118"/>
                  </a:lnTo>
                  <a:lnTo>
                    <a:pt x="588336" y="1166951"/>
                  </a:lnTo>
                  <a:lnTo>
                    <a:pt x="619851" y="1131851"/>
                  </a:lnTo>
                  <a:lnTo>
                    <a:pt x="648868" y="1094921"/>
                  </a:lnTo>
                  <a:lnTo>
                    <a:pt x="675277" y="1056260"/>
                  </a:lnTo>
                  <a:lnTo>
                    <a:pt x="698966" y="1015971"/>
                  </a:lnTo>
                  <a:lnTo>
                    <a:pt x="719825" y="974154"/>
                  </a:lnTo>
                  <a:lnTo>
                    <a:pt x="737743" y="930910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749551" y="4101084"/>
            <a:ext cx="868680" cy="1986914"/>
            <a:chOff x="1749551" y="4101084"/>
            <a:chExt cx="868680" cy="1986914"/>
          </a:xfrm>
        </p:grpSpPr>
        <p:sp>
          <p:nvSpPr>
            <p:cNvPr id="17" name="object 17" descr=""/>
            <p:cNvSpPr/>
            <p:nvPr/>
          </p:nvSpPr>
          <p:spPr>
            <a:xfrm>
              <a:off x="1754123" y="4785868"/>
              <a:ext cx="859790" cy="1297305"/>
            </a:xfrm>
            <a:custGeom>
              <a:avLst/>
              <a:gdLst/>
              <a:ahLst/>
              <a:cxnLst/>
              <a:rect l="l" t="t" r="r" b="b"/>
              <a:pathLst>
                <a:path w="859789" h="1297304">
                  <a:moveTo>
                    <a:pt x="0" y="0"/>
                  </a:moveTo>
                  <a:lnTo>
                    <a:pt x="0" y="437260"/>
                  </a:lnTo>
                  <a:lnTo>
                    <a:pt x="1891" y="482482"/>
                  </a:lnTo>
                  <a:lnTo>
                    <a:pt x="7497" y="527073"/>
                  </a:lnTo>
                  <a:lnTo>
                    <a:pt x="16717" y="570920"/>
                  </a:lnTo>
                  <a:lnTo>
                    <a:pt x="29449" y="613908"/>
                  </a:lnTo>
                  <a:lnTo>
                    <a:pt x="45593" y="655925"/>
                  </a:lnTo>
                  <a:lnTo>
                    <a:pt x="65046" y="696856"/>
                  </a:lnTo>
                  <a:lnTo>
                    <a:pt x="87708" y="736589"/>
                  </a:lnTo>
                  <a:lnTo>
                    <a:pt x="113476" y="775010"/>
                  </a:lnTo>
                  <a:lnTo>
                    <a:pt x="142251" y="812005"/>
                  </a:lnTo>
                  <a:lnTo>
                    <a:pt x="173930" y="847460"/>
                  </a:lnTo>
                  <a:lnTo>
                    <a:pt x="208412" y="881262"/>
                  </a:lnTo>
                  <a:lnTo>
                    <a:pt x="245596" y="913298"/>
                  </a:lnTo>
                  <a:lnTo>
                    <a:pt x="285380" y="943454"/>
                  </a:lnTo>
                  <a:lnTo>
                    <a:pt x="327664" y="971616"/>
                  </a:lnTo>
                  <a:lnTo>
                    <a:pt x="372345" y="997671"/>
                  </a:lnTo>
                  <a:lnTo>
                    <a:pt x="419323" y="1021505"/>
                  </a:lnTo>
                  <a:lnTo>
                    <a:pt x="468497" y="1043005"/>
                  </a:lnTo>
                  <a:lnTo>
                    <a:pt x="519764" y="1062057"/>
                  </a:lnTo>
                  <a:lnTo>
                    <a:pt x="573024" y="1078547"/>
                  </a:lnTo>
                  <a:lnTo>
                    <a:pt x="573024" y="1297139"/>
                  </a:lnTo>
                  <a:lnTo>
                    <a:pt x="859536" y="898855"/>
                  </a:lnTo>
                  <a:lnTo>
                    <a:pt x="573024" y="422782"/>
                  </a:lnTo>
                  <a:lnTo>
                    <a:pt x="573024" y="641349"/>
                  </a:lnTo>
                  <a:lnTo>
                    <a:pt x="519764" y="624852"/>
                  </a:lnTo>
                  <a:lnTo>
                    <a:pt x="468497" y="605796"/>
                  </a:lnTo>
                  <a:lnTo>
                    <a:pt x="419323" y="584294"/>
                  </a:lnTo>
                  <a:lnTo>
                    <a:pt x="372345" y="560459"/>
                  </a:lnTo>
                  <a:lnTo>
                    <a:pt x="327664" y="534405"/>
                  </a:lnTo>
                  <a:lnTo>
                    <a:pt x="285380" y="506245"/>
                  </a:lnTo>
                  <a:lnTo>
                    <a:pt x="245596" y="476091"/>
                  </a:lnTo>
                  <a:lnTo>
                    <a:pt x="208412" y="444058"/>
                  </a:lnTo>
                  <a:lnTo>
                    <a:pt x="173930" y="410258"/>
                  </a:lnTo>
                  <a:lnTo>
                    <a:pt x="142251" y="374805"/>
                  </a:lnTo>
                  <a:lnTo>
                    <a:pt x="113476" y="337811"/>
                  </a:lnTo>
                  <a:lnTo>
                    <a:pt x="87708" y="299391"/>
                  </a:lnTo>
                  <a:lnTo>
                    <a:pt x="65046" y="259656"/>
                  </a:lnTo>
                  <a:lnTo>
                    <a:pt x="45593" y="218721"/>
                  </a:lnTo>
                  <a:lnTo>
                    <a:pt x="29449" y="176699"/>
                  </a:lnTo>
                  <a:lnTo>
                    <a:pt x="16717" y="133702"/>
                  </a:lnTo>
                  <a:lnTo>
                    <a:pt x="7497" y="89845"/>
                  </a:lnTo>
                  <a:lnTo>
                    <a:pt x="1891" y="45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00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754044" y="4105656"/>
              <a:ext cx="859790" cy="899160"/>
            </a:xfrm>
            <a:custGeom>
              <a:avLst/>
              <a:gdLst/>
              <a:ahLst/>
              <a:cxnLst/>
              <a:rect l="l" t="t" r="r" b="b"/>
              <a:pathLst>
                <a:path w="859789" h="899160">
                  <a:moveTo>
                    <a:pt x="859615" y="0"/>
                  </a:moveTo>
                  <a:lnTo>
                    <a:pt x="812704" y="1013"/>
                  </a:lnTo>
                  <a:lnTo>
                    <a:pt x="766016" y="4045"/>
                  </a:lnTo>
                  <a:lnTo>
                    <a:pt x="719645" y="9080"/>
                  </a:lnTo>
                  <a:lnTo>
                    <a:pt x="673687" y="16105"/>
                  </a:lnTo>
                  <a:lnTo>
                    <a:pt x="628237" y="25106"/>
                  </a:lnTo>
                  <a:lnTo>
                    <a:pt x="583390" y="36068"/>
                  </a:lnTo>
                  <a:lnTo>
                    <a:pt x="532466" y="51164"/>
                  </a:lnTo>
                  <a:lnTo>
                    <a:pt x="483458" y="68516"/>
                  </a:lnTo>
                  <a:lnTo>
                    <a:pt x="436428" y="88022"/>
                  </a:lnTo>
                  <a:lnTo>
                    <a:pt x="391438" y="109580"/>
                  </a:lnTo>
                  <a:lnTo>
                    <a:pt x="348553" y="133091"/>
                  </a:lnTo>
                  <a:lnTo>
                    <a:pt x="307836" y="158452"/>
                  </a:lnTo>
                  <a:lnTo>
                    <a:pt x="269348" y="185563"/>
                  </a:lnTo>
                  <a:lnTo>
                    <a:pt x="233154" y="214322"/>
                  </a:lnTo>
                  <a:lnTo>
                    <a:pt x="199316" y="244630"/>
                  </a:lnTo>
                  <a:lnTo>
                    <a:pt x="167897" y="276384"/>
                  </a:lnTo>
                  <a:lnTo>
                    <a:pt x="138961" y="309484"/>
                  </a:lnTo>
                  <a:lnTo>
                    <a:pt x="112570" y="343828"/>
                  </a:lnTo>
                  <a:lnTo>
                    <a:pt x="88788" y="379317"/>
                  </a:lnTo>
                  <a:lnTo>
                    <a:pt x="67677" y="415848"/>
                  </a:lnTo>
                  <a:lnTo>
                    <a:pt x="49301" y="453320"/>
                  </a:lnTo>
                  <a:lnTo>
                    <a:pt x="33723" y="491634"/>
                  </a:lnTo>
                  <a:lnTo>
                    <a:pt x="21005" y="530687"/>
                  </a:lnTo>
                  <a:lnTo>
                    <a:pt x="11210" y="570378"/>
                  </a:lnTo>
                  <a:lnTo>
                    <a:pt x="4403" y="610607"/>
                  </a:lnTo>
                  <a:lnTo>
                    <a:pt x="645" y="651273"/>
                  </a:lnTo>
                  <a:lnTo>
                    <a:pt x="0" y="692274"/>
                  </a:lnTo>
                  <a:lnTo>
                    <a:pt x="2530" y="733510"/>
                  </a:lnTo>
                  <a:lnTo>
                    <a:pt x="8300" y="774879"/>
                  </a:lnTo>
                  <a:lnTo>
                    <a:pt x="17371" y="816281"/>
                  </a:lnTo>
                  <a:lnTo>
                    <a:pt x="29807" y="857615"/>
                  </a:lnTo>
                  <a:lnTo>
                    <a:pt x="45672" y="898779"/>
                  </a:lnTo>
                  <a:lnTo>
                    <a:pt x="63984" y="859979"/>
                  </a:lnTo>
                  <a:lnTo>
                    <a:pt x="85030" y="822469"/>
                  </a:lnTo>
                  <a:lnTo>
                    <a:pt x="108700" y="786312"/>
                  </a:lnTo>
                  <a:lnTo>
                    <a:pt x="134887" y="751568"/>
                  </a:lnTo>
                  <a:lnTo>
                    <a:pt x="163481" y="718300"/>
                  </a:lnTo>
                  <a:lnTo>
                    <a:pt x="194373" y="686570"/>
                  </a:lnTo>
                  <a:lnTo>
                    <a:pt x="227456" y="656439"/>
                  </a:lnTo>
                  <a:lnTo>
                    <a:pt x="262619" y="627969"/>
                  </a:lnTo>
                  <a:lnTo>
                    <a:pt x="299754" y="601222"/>
                  </a:lnTo>
                  <a:lnTo>
                    <a:pt x="338753" y="576260"/>
                  </a:lnTo>
                  <a:lnTo>
                    <a:pt x="379506" y="553144"/>
                  </a:lnTo>
                  <a:lnTo>
                    <a:pt x="421906" y="531936"/>
                  </a:lnTo>
                  <a:lnTo>
                    <a:pt x="465842" y="512698"/>
                  </a:lnTo>
                  <a:lnTo>
                    <a:pt x="511207" y="495492"/>
                  </a:lnTo>
                  <a:lnTo>
                    <a:pt x="557891" y="480380"/>
                  </a:lnTo>
                  <a:lnTo>
                    <a:pt x="605786" y="467423"/>
                  </a:lnTo>
                  <a:lnTo>
                    <a:pt x="654783" y="456684"/>
                  </a:lnTo>
                  <a:lnTo>
                    <a:pt x="704773" y="448223"/>
                  </a:lnTo>
                  <a:lnTo>
                    <a:pt x="755647" y="442103"/>
                  </a:lnTo>
                  <a:lnTo>
                    <a:pt x="807298" y="438386"/>
                  </a:lnTo>
                  <a:lnTo>
                    <a:pt x="859615" y="437134"/>
                  </a:lnTo>
                  <a:lnTo>
                    <a:pt x="859615" y="0"/>
                  </a:lnTo>
                  <a:close/>
                </a:path>
              </a:pathLst>
            </a:custGeom>
            <a:solidFill>
              <a:srgbClr val="CA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54123" y="4105656"/>
              <a:ext cx="859790" cy="1977389"/>
            </a:xfrm>
            <a:custGeom>
              <a:avLst/>
              <a:gdLst/>
              <a:ahLst/>
              <a:cxnLst/>
              <a:rect l="l" t="t" r="r" b="b"/>
              <a:pathLst>
                <a:path w="859789" h="1977389">
                  <a:moveTo>
                    <a:pt x="0" y="680212"/>
                  </a:moveTo>
                  <a:lnTo>
                    <a:pt x="1891" y="725451"/>
                  </a:lnTo>
                  <a:lnTo>
                    <a:pt x="7497" y="770057"/>
                  </a:lnTo>
                  <a:lnTo>
                    <a:pt x="16717" y="813914"/>
                  </a:lnTo>
                  <a:lnTo>
                    <a:pt x="29449" y="856911"/>
                  </a:lnTo>
                  <a:lnTo>
                    <a:pt x="45593" y="898933"/>
                  </a:lnTo>
                  <a:lnTo>
                    <a:pt x="65046" y="939868"/>
                  </a:lnTo>
                  <a:lnTo>
                    <a:pt x="87708" y="979603"/>
                  </a:lnTo>
                  <a:lnTo>
                    <a:pt x="113476" y="1018023"/>
                  </a:lnTo>
                  <a:lnTo>
                    <a:pt x="142251" y="1055017"/>
                  </a:lnTo>
                  <a:lnTo>
                    <a:pt x="173930" y="1090470"/>
                  </a:lnTo>
                  <a:lnTo>
                    <a:pt x="208412" y="1124270"/>
                  </a:lnTo>
                  <a:lnTo>
                    <a:pt x="245596" y="1156303"/>
                  </a:lnTo>
                  <a:lnTo>
                    <a:pt x="285380" y="1186457"/>
                  </a:lnTo>
                  <a:lnTo>
                    <a:pt x="327664" y="1214617"/>
                  </a:lnTo>
                  <a:lnTo>
                    <a:pt x="372345" y="1240671"/>
                  </a:lnTo>
                  <a:lnTo>
                    <a:pt x="419323" y="1264506"/>
                  </a:lnTo>
                  <a:lnTo>
                    <a:pt x="468497" y="1286008"/>
                  </a:lnTo>
                  <a:lnTo>
                    <a:pt x="519764" y="1305064"/>
                  </a:lnTo>
                  <a:lnTo>
                    <a:pt x="573024" y="1321562"/>
                  </a:lnTo>
                  <a:lnTo>
                    <a:pt x="573024" y="1102995"/>
                  </a:lnTo>
                  <a:lnTo>
                    <a:pt x="859536" y="1579067"/>
                  </a:lnTo>
                  <a:lnTo>
                    <a:pt x="573024" y="1977351"/>
                  </a:lnTo>
                  <a:lnTo>
                    <a:pt x="573024" y="1758759"/>
                  </a:lnTo>
                  <a:lnTo>
                    <a:pt x="519764" y="1742269"/>
                  </a:lnTo>
                  <a:lnTo>
                    <a:pt x="468497" y="1723217"/>
                  </a:lnTo>
                  <a:lnTo>
                    <a:pt x="419323" y="1701717"/>
                  </a:lnTo>
                  <a:lnTo>
                    <a:pt x="372345" y="1677883"/>
                  </a:lnTo>
                  <a:lnTo>
                    <a:pt x="327664" y="1651828"/>
                  </a:lnTo>
                  <a:lnTo>
                    <a:pt x="285380" y="1623666"/>
                  </a:lnTo>
                  <a:lnTo>
                    <a:pt x="245596" y="1593510"/>
                  </a:lnTo>
                  <a:lnTo>
                    <a:pt x="208412" y="1561474"/>
                  </a:lnTo>
                  <a:lnTo>
                    <a:pt x="173930" y="1527672"/>
                  </a:lnTo>
                  <a:lnTo>
                    <a:pt x="142251" y="1492217"/>
                  </a:lnTo>
                  <a:lnTo>
                    <a:pt x="113476" y="1455222"/>
                  </a:lnTo>
                  <a:lnTo>
                    <a:pt x="87708" y="1416801"/>
                  </a:lnTo>
                  <a:lnTo>
                    <a:pt x="65046" y="1377068"/>
                  </a:lnTo>
                  <a:lnTo>
                    <a:pt x="45593" y="1336137"/>
                  </a:lnTo>
                  <a:lnTo>
                    <a:pt x="29449" y="1294120"/>
                  </a:lnTo>
                  <a:lnTo>
                    <a:pt x="16717" y="1251132"/>
                  </a:lnTo>
                  <a:lnTo>
                    <a:pt x="7497" y="1207285"/>
                  </a:lnTo>
                  <a:lnTo>
                    <a:pt x="1891" y="1162694"/>
                  </a:lnTo>
                  <a:lnTo>
                    <a:pt x="0" y="1117473"/>
                  </a:lnTo>
                  <a:lnTo>
                    <a:pt x="0" y="680212"/>
                  </a:lnTo>
                  <a:lnTo>
                    <a:pt x="1690" y="637194"/>
                  </a:lnTo>
                  <a:lnTo>
                    <a:pt x="6696" y="594888"/>
                  </a:lnTo>
                  <a:lnTo>
                    <a:pt x="14916" y="553372"/>
                  </a:lnTo>
                  <a:lnTo>
                    <a:pt x="26249" y="512727"/>
                  </a:lnTo>
                  <a:lnTo>
                    <a:pt x="40596" y="473032"/>
                  </a:lnTo>
                  <a:lnTo>
                    <a:pt x="57854" y="434366"/>
                  </a:lnTo>
                  <a:lnTo>
                    <a:pt x="77924" y="396810"/>
                  </a:lnTo>
                  <a:lnTo>
                    <a:pt x="100704" y="360442"/>
                  </a:lnTo>
                  <a:lnTo>
                    <a:pt x="126095" y="325344"/>
                  </a:lnTo>
                  <a:lnTo>
                    <a:pt x="153995" y="291594"/>
                  </a:lnTo>
                  <a:lnTo>
                    <a:pt x="184304" y="259272"/>
                  </a:lnTo>
                  <a:lnTo>
                    <a:pt x="216921" y="228458"/>
                  </a:lnTo>
                  <a:lnTo>
                    <a:pt x="251745" y="199231"/>
                  </a:lnTo>
                  <a:lnTo>
                    <a:pt x="288676" y="171671"/>
                  </a:lnTo>
                  <a:lnTo>
                    <a:pt x="327614" y="145858"/>
                  </a:lnTo>
                  <a:lnTo>
                    <a:pt x="368457" y="121872"/>
                  </a:lnTo>
                  <a:lnTo>
                    <a:pt x="411104" y="99792"/>
                  </a:lnTo>
                  <a:lnTo>
                    <a:pt x="455456" y="79698"/>
                  </a:lnTo>
                  <a:lnTo>
                    <a:pt x="501411" y="61669"/>
                  </a:lnTo>
                  <a:lnTo>
                    <a:pt x="548868" y="45786"/>
                  </a:lnTo>
                  <a:lnTo>
                    <a:pt x="597728" y="32128"/>
                  </a:lnTo>
                  <a:lnTo>
                    <a:pt x="647890" y="20774"/>
                  </a:lnTo>
                  <a:lnTo>
                    <a:pt x="699252" y="11805"/>
                  </a:lnTo>
                  <a:lnTo>
                    <a:pt x="751714" y="5299"/>
                  </a:lnTo>
                  <a:lnTo>
                    <a:pt x="805175" y="1338"/>
                  </a:lnTo>
                  <a:lnTo>
                    <a:pt x="859536" y="0"/>
                  </a:lnTo>
                  <a:lnTo>
                    <a:pt x="859536" y="437134"/>
                  </a:lnTo>
                  <a:lnTo>
                    <a:pt x="807218" y="438386"/>
                  </a:lnTo>
                  <a:lnTo>
                    <a:pt x="755568" y="442103"/>
                  </a:lnTo>
                  <a:lnTo>
                    <a:pt x="704694" y="448223"/>
                  </a:lnTo>
                  <a:lnTo>
                    <a:pt x="654703" y="456684"/>
                  </a:lnTo>
                  <a:lnTo>
                    <a:pt x="605707" y="467423"/>
                  </a:lnTo>
                  <a:lnTo>
                    <a:pt x="557812" y="480380"/>
                  </a:lnTo>
                  <a:lnTo>
                    <a:pt x="511127" y="495492"/>
                  </a:lnTo>
                  <a:lnTo>
                    <a:pt x="465763" y="512698"/>
                  </a:lnTo>
                  <a:lnTo>
                    <a:pt x="421826" y="531936"/>
                  </a:lnTo>
                  <a:lnTo>
                    <a:pt x="379427" y="553144"/>
                  </a:lnTo>
                  <a:lnTo>
                    <a:pt x="338674" y="576260"/>
                  </a:lnTo>
                  <a:lnTo>
                    <a:pt x="299675" y="601222"/>
                  </a:lnTo>
                  <a:lnTo>
                    <a:pt x="262540" y="627969"/>
                  </a:lnTo>
                  <a:lnTo>
                    <a:pt x="227377" y="656439"/>
                  </a:lnTo>
                  <a:lnTo>
                    <a:pt x="194294" y="686570"/>
                  </a:lnTo>
                  <a:lnTo>
                    <a:pt x="163402" y="718300"/>
                  </a:lnTo>
                  <a:lnTo>
                    <a:pt x="134808" y="751568"/>
                  </a:lnTo>
                  <a:lnTo>
                    <a:pt x="108621" y="786312"/>
                  </a:lnTo>
                  <a:lnTo>
                    <a:pt x="84951" y="822469"/>
                  </a:lnTo>
                  <a:lnTo>
                    <a:pt x="63905" y="859979"/>
                  </a:lnTo>
                  <a:lnTo>
                    <a:pt x="45593" y="898779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64" y="570356"/>
            <a:ext cx="52089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imes New Roman"/>
                <a:cs typeface="Times New Roman"/>
              </a:rPr>
              <a:t>MANAJEMEN</a:t>
            </a:r>
            <a:r>
              <a:rPr dirty="0" sz="2800" spc="-114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PROYEK</a:t>
            </a:r>
            <a:r>
              <a:rPr dirty="0" sz="2800" spc="-1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(PMI)</a:t>
            </a:r>
            <a:r>
              <a:rPr dirty="0" sz="2800" spc="-125" b="1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621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Adalah</a:t>
            </a:r>
            <a:r>
              <a:rPr dirty="0" spc="-25"/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ilmu</a:t>
            </a:r>
            <a:r>
              <a:rPr dirty="0" u="sng" spc="-6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dan</a:t>
            </a:r>
            <a:r>
              <a:rPr dirty="0" u="sng" spc="-4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seni</a:t>
            </a:r>
            <a:r>
              <a:rPr dirty="0" spc="-30" i="1">
                <a:latin typeface="Times New Roman"/>
                <a:cs typeface="Times New Roman"/>
              </a:rPr>
              <a:t> </a:t>
            </a:r>
            <a:r>
              <a:rPr dirty="0"/>
              <a:t>yang</a:t>
            </a:r>
            <a:r>
              <a:rPr dirty="0" spc="-40"/>
              <a:t> </a:t>
            </a:r>
            <a:r>
              <a:rPr dirty="0"/>
              <a:t>berkaitan</a:t>
            </a:r>
            <a:r>
              <a:rPr dirty="0" spc="-50"/>
              <a:t> </a:t>
            </a:r>
            <a:r>
              <a:rPr dirty="0"/>
              <a:t>dengan</a:t>
            </a:r>
            <a:r>
              <a:rPr dirty="0" spc="-20"/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memimpin</a:t>
            </a:r>
            <a:r>
              <a:rPr dirty="0" u="sng" spc="-7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2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dan</a:t>
            </a:r>
            <a:r>
              <a:rPr dirty="0" spc="-25" i="1"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mengkoordinir</a:t>
            </a:r>
            <a:r>
              <a:rPr dirty="0" spc="-50" i="1">
                <a:latin typeface="Times New Roman"/>
                <a:cs typeface="Times New Roman"/>
              </a:rPr>
              <a:t> </a:t>
            </a:r>
            <a:r>
              <a:rPr dirty="0"/>
              <a:t>sumber</a:t>
            </a:r>
            <a:r>
              <a:rPr dirty="0" spc="-65"/>
              <a:t> </a:t>
            </a:r>
            <a:r>
              <a:rPr dirty="0"/>
              <a:t>daya</a:t>
            </a:r>
            <a:r>
              <a:rPr dirty="0" spc="-30"/>
              <a:t> </a:t>
            </a:r>
            <a:r>
              <a:rPr dirty="0"/>
              <a:t>yang</a:t>
            </a:r>
            <a:r>
              <a:rPr dirty="0" spc="-35"/>
              <a:t> </a:t>
            </a:r>
            <a:r>
              <a:rPr dirty="0"/>
              <a:t>terdiri</a:t>
            </a:r>
            <a:r>
              <a:rPr dirty="0" spc="-50"/>
              <a:t> </a:t>
            </a:r>
            <a:r>
              <a:rPr dirty="0"/>
              <a:t>dari</a:t>
            </a:r>
            <a:r>
              <a:rPr dirty="0" spc="-40"/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manusia</a:t>
            </a:r>
            <a:r>
              <a:rPr dirty="0" spc="-45" i="1">
                <a:latin typeface="Times New Roman"/>
                <a:cs typeface="Times New Roman"/>
              </a:rPr>
              <a:t> </a:t>
            </a:r>
            <a:r>
              <a:rPr dirty="0"/>
              <a:t>dan</a:t>
            </a:r>
            <a:r>
              <a:rPr dirty="0" spc="-25"/>
              <a:t> </a:t>
            </a:r>
            <a:r>
              <a:rPr dirty="0" u="sng" spc="-1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material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/>
              <a:t>dengan</a:t>
            </a:r>
            <a:r>
              <a:rPr dirty="0" spc="-60"/>
              <a:t> </a:t>
            </a:r>
            <a:r>
              <a:rPr dirty="0" spc="-10"/>
              <a:t>menggunakan</a:t>
            </a:r>
            <a:r>
              <a:rPr dirty="0" spc="-65"/>
              <a:t> </a:t>
            </a:r>
            <a:r>
              <a:rPr dirty="0"/>
              <a:t>teknik</a:t>
            </a:r>
            <a:r>
              <a:rPr dirty="0" spc="-75"/>
              <a:t> </a:t>
            </a:r>
            <a:r>
              <a:rPr dirty="0"/>
              <a:t>pengelolahan</a:t>
            </a:r>
            <a:r>
              <a:rPr dirty="0" spc="-65"/>
              <a:t> </a:t>
            </a:r>
            <a:r>
              <a:rPr dirty="0"/>
              <a:t>modern</a:t>
            </a:r>
            <a:r>
              <a:rPr dirty="0" spc="-70"/>
              <a:t> </a:t>
            </a:r>
            <a:r>
              <a:rPr dirty="0"/>
              <a:t>untuk</a:t>
            </a:r>
            <a:r>
              <a:rPr dirty="0" spc="-50"/>
              <a:t> </a:t>
            </a:r>
            <a:r>
              <a:rPr dirty="0" spc="-10"/>
              <a:t>mencapai </a:t>
            </a:r>
            <a:r>
              <a:rPr dirty="0"/>
              <a:t>sasaran</a:t>
            </a:r>
            <a:r>
              <a:rPr dirty="0" spc="-75"/>
              <a:t> </a:t>
            </a:r>
            <a:r>
              <a:rPr dirty="0"/>
              <a:t>yang</a:t>
            </a:r>
            <a:r>
              <a:rPr dirty="0" spc="-60"/>
              <a:t> </a:t>
            </a:r>
            <a:r>
              <a:rPr dirty="0"/>
              <a:t>telah</a:t>
            </a:r>
            <a:r>
              <a:rPr dirty="0" spc="-85"/>
              <a:t> </a:t>
            </a:r>
            <a:r>
              <a:rPr dirty="0"/>
              <a:t>ditentukan,</a:t>
            </a:r>
            <a:r>
              <a:rPr dirty="0" spc="-85"/>
              <a:t> </a:t>
            </a:r>
            <a:r>
              <a:rPr dirty="0"/>
              <a:t>yaitu</a:t>
            </a:r>
            <a:r>
              <a:rPr dirty="0" spc="-80"/>
              <a:t> </a:t>
            </a:r>
            <a:r>
              <a:rPr dirty="0"/>
              <a:t>lingkup,</a:t>
            </a:r>
            <a:r>
              <a:rPr dirty="0" spc="-55"/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MUTU,</a:t>
            </a:r>
            <a:r>
              <a:rPr dirty="0" u="sng" spc="-6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2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JADWAL,</a:t>
            </a:r>
            <a:r>
              <a:rPr dirty="0" u="sng" spc="-6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2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dan</a:t>
            </a:r>
            <a:r>
              <a:rPr dirty="0" spc="-25" i="1">
                <a:latin typeface="Times New Roman"/>
                <a:cs typeface="Times New Roman"/>
              </a:rPr>
              <a:t> </a:t>
            </a:r>
            <a:r>
              <a:rPr dirty="0" u="sng" spc="-7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BIAYA</a:t>
            </a:r>
            <a:r>
              <a:rPr dirty="0" u="sng" spc="-14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serta</a:t>
            </a:r>
            <a:r>
              <a:rPr dirty="0" u="sng" spc="-5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memenuhi</a:t>
            </a:r>
            <a:r>
              <a:rPr dirty="0" u="sng" spc="-5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keinginan</a:t>
            </a:r>
            <a:r>
              <a:rPr dirty="0" u="sng" spc="-3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para</a:t>
            </a:r>
            <a:r>
              <a:rPr dirty="0" u="sng" spc="-25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10" i="1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STAKEHOLDER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0116" y="568832"/>
            <a:ext cx="8853805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KONSEP</a:t>
            </a:r>
            <a:r>
              <a:rPr dirty="0" sz="32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MANAJEMEN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(PMI)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Definisi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PMI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menekankan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pada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Times New Roman"/>
                <a:cs typeface="Times New Roman"/>
              </a:rPr>
              <a:t>langkah-langkah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yang</a:t>
            </a:r>
            <a:r>
              <a:rPr dirty="0" sz="3200" spc="-5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diperlukan</a:t>
            </a:r>
            <a:r>
              <a:rPr dirty="0" sz="3200" spc="-4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dalam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menjalani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untuk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memenuhi</a:t>
            </a:r>
            <a:r>
              <a:rPr dirty="0" sz="3200" spc="-10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keinginan</a:t>
            </a:r>
            <a:r>
              <a:rPr dirty="0" sz="3200" spc="-114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Times New Roman"/>
                <a:cs typeface="Times New Roman"/>
              </a:rPr>
              <a:t>STAKEHOLDER</a:t>
            </a:r>
            <a:r>
              <a:rPr dirty="0" sz="3200" spc="-10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(Individu,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maupun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Organisasi),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serta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Ilmu</a:t>
            </a:r>
            <a:r>
              <a:rPr dirty="0" sz="3200" spc="-4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pengetahuan</a:t>
            </a:r>
            <a:r>
              <a:rPr dirty="0" sz="3200" spc="-6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Times New Roman"/>
                <a:cs typeface="Times New Roman"/>
              </a:rPr>
              <a:t>yang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dibutuhkan</a:t>
            </a:r>
            <a:r>
              <a:rPr dirty="0" sz="3200" spc="-7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untuk</a:t>
            </a:r>
            <a:r>
              <a:rPr dirty="0" sz="3200" spc="-5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Times New Roman"/>
                <a:cs typeface="Times New Roman"/>
              </a:rPr>
              <a:t>mengelolah</a:t>
            </a:r>
            <a:r>
              <a:rPr dirty="0" sz="3200" spc="-7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Times New Roman"/>
                <a:cs typeface="Times New Roman"/>
              </a:rPr>
              <a:t>Proyek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825" rIns="0" bIns="0" rtlCol="0" vert="horz">
            <a:spAutoFit/>
          </a:bodyPr>
          <a:lstStyle/>
          <a:p>
            <a:pPr marL="247015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PROYEK</a:t>
            </a:r>
            <a:r>
              <a:rPr dirty="0" sz="3200" spc="-9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VS </a:t>
            </a:r>
            <a:r>
              <a:rPr dirty="0" sz="3200" spc="-10" b="1">
                <a:latin typeface="Times New Roman"/>
                <a:cs typeface="Times New Roman"/>
              </a:rPr>
              <a:t>PROGRAM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6172" y="1638300"/>
            <a:ext cx="6950964" cy="44013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18026" y="1721611"/>
            <a:ext cx="18967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318385" y="2395473"/>
            <a:ext cx="1525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240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60770" y="2575686"/>
            <a:ext cx="15443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24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22677" y="2971927"/>
            <a:ext cx="4209415" cy="20472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948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240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240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2713355">
              <a:lnSpc>
                <a:spcPct val="100000"/>
              </a:lnSpc>
              <a:spcBef>
                <a:spcPts val="1655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2400" spc="-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978" rIns="0" bIns="0" rtlCol="0" vert="horz">
            <a:spAutoFit/>
          </a:bodyPr>
          <a:lstStyle/>
          <a:p>
            <a:pPr marL="1778635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Times New Roman"/>
                <a:cs typeface="Times New Roman"/>
              </a:rPr>
              <a:t>Interactions</a:t>
            </a:r>
            <a:r>
              <a:rPr dirty="0" sz="4400" spc="-50">
                <a:latin typeface="Times New Roman"/>
                <a:cs typeface="Times New Roman"/>
              </a:rPr>
              <a:t> </a:t>
            </a:r>
            <a:r>
              <a:rPr dirty="0" sz="4400">
                <a:latin typeface="Times New Roman"/>
                <a:cs typeface="Times New Roman"/>
              </a:rPr>
              <a:t>/</a:t>
            </a:r>
            <a:r>
              <a:rPr dirty="0" sz="4400" spc="-5">
                <a:latin typeface="Times New Roman"/>
                <a:cs typeface="Times New Roman"/>
              </a:rPr>
              <a:t> </a:t>
            </a:r>
            <a:r>
              <a:rPr dirty="0" sz="4400" spc="-10">
                <a:latin typeface="Times New Roman"/>
                <a:cs typeface="Times New Roman"/>
              </a:rPr>
              <a:t>Stakeholders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21842" y="1675612"/>
            <a:ext cx="6238875" cy="426910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</a:tabLst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PM,</a:t>
            </a:r>
            <a:r>
              <a:rPr dirty="0" sz="3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who</a:t>
            </a:r>
            <a:r>
              <a:rPr dirty="0" sz="3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r>
              <a:rPr dirty="0" sz="3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3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interact</a:t>
            </a:r>
            <a:r>
              <a:rPr dirty="0" sz="3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with?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Stakeholders</a:t>
            </a:r>
            <a:endParaRPr sz="32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015" algn="l"/>
              </a:tabLst>
            </a:pP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dirty="0" sz="28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sponsor</a:t>
            </a:r>
            <a:endParaRPr sz="28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015" algn="l"/>
              </a:tabLst>
            </a:pP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Executives</a:t>
            </a:r>
            <a:endParaRPr sz="28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015" algn="l"/>
              </a:tabLst>
            </a:pPr>
            <a:r>
              <a:rPr dirty="0" sz="2800" spc="-20">
                <a:solidFill>
                  <a:srgbClr val="FFFFFF"/>
                </a:solidFill>
                <a:latin typeface="Times New Roman"/>
                <a:cs typeface="Times New Roman"/>
              </a:rPr>
              <a:t>Team</a:t>
            </a:r>
            <a:endParaRPr sz="28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015" algn="l"/>
              </a:tabLst>
            </a:pP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Customers</a:t>
            </a:r>
            <a:endParaRPr sz="28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015" algn="l"/>
              </a:tabLst>
            </a:pP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Contractors</a:t>
            </a:r>
            <a:endParaRPr sz="28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015" algn="l"/>
              </a:tabLst>
            </a:pP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Functional</a:t>
            </a:r>
            <a:r>
              <a:rPr dirty="0" sz="28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managers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456" y="477012"/>
            <a:ext cx="9493250" cy="504825"/>
          </a:xfrm>
          <a:prstGeom prst="rect"/>
          <a:ln w="12192">
            <a:solidFill>
              <a:srgbClr val="FFFFFF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562610">
              <a:lnSpc>
                <a:spcPct val="100000"/>
              </a:lnSpc>
              <a:spcBef>
                <a:spcPts val="165"/>
              </a:spcBef>
            </a:pPr>
            <a:r>
              <a:rPr dirty="0" sz="2800" b="1">
                <a:latin typeface="Arial"/>
                <a:cs typeface="Arial"/>
              </a:rPr>
              <a:t>Sasaran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Proyek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dan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3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Kendala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(Triple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Constraint)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4967" y="1522857"/>
            <a:ext cx="908494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Setiap</a:t>
            </a:r>
            <a:r>
              <a:rPr dirty="0" sz="2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Proyek</a:t>
            </a:r>
            <a:r>
              <a:rPr dirty="0" sz="2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memiliki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tujuan</a:t>
            </a:r>
            <a:r>
              <a:rPr dirty="0" sz="2400" spc="-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khusus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didalam</a:t>
            </a:r>
            <a:r>
              <a:rPr dirty="0" sz="24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proses</a:t>
            </a:r>
            <a:r>
              <a:rPr dirty="0" sz="2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pencapaian</a:t>
            </a:r>
            <a:r>
              <a:rPr dirty="0" sz="24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tujuan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tersebut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ada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 constraint</a:t>
            </a:r>
            <a:r>
              <a:rPr dirty="0" sz="2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yang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harus dipenuhi,</a:t>
            </a:r>
            <a:r>
              <a:rPr dirty="0" sz="2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yang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dikenal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dengan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0000FF"/>
                </a:solidFill>
                <a:latin typeface="Times New Roman"/>
                <a:cs typeface="Times New Roman"/>
              </a:rPr>
              <a:t>Trade-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off</a:t>
            </a:r>
            <a:r>
              <a:rPr dirty="0" sz="2400" spc="-8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Triangle</a:t>
            </a:r>
            <a:r>
              <a:rPr dirty="0" sz="240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atau</a:t>
            </a:r>
            <a:r>
              <a:rPr dirty="0" sz="240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Triple</a:t>
            </a:r>
            <a:r>
              <a:rPr dirty="0" sz="2400" spc="-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Constraint</a:t>
            </a:r>
            <a:r>
              <a:rPr dirty="0" sz="2400" spc="-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8964" y="2708148"/>
            <a:ext cx="4991099" cy="38862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450835" y="5445252"/>
            <a:ext cx="1697989" cy="39941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2000" spc="-10" b="1">
                <a:solidFill>
                  <a:srgbClr val="919191"/>
                </a:solidFill>
                <a:latin typeface="Times New Roman"/>
                <a:cs typeface="Times New Roman"/>
              </a:rPr>
              <a:t>ANGGARAN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40663" y="5516879"/>
            <a:ext cx="1271270" cy="39941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dirty="0" sz="2000" spc="-10" b="1">
                <a:solidFill>
                  <a:srgbClr val="919191"/>
                </a:solidFill>
                <a:latin typeface="Times New Roman"/>
                <a:cs typeface="Times New Roman"/>
              </a:rPr>
              <a:t>JADWAL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76315" y="3212592"/>
            <a:ext cx="928369" cy="40132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00"/>
              </a:spcBef>
            </a:pPr>
            <a:r>
              <a:rPr dirty="0" sz="2000" spc="-20" b="1">
                <a:solidFill>
                  <a:srgbClr val="919191"/>
                </a:solidFill>
                <a:latin typeface="Times New Roman"/>
                <a:cs typeface="Times New Roman"/>
              </a:rPr>
              <a:t>MUTU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456" y="477012"/>
            <a:ext cx="9493250" cy="504825"/>
          </a:xfrm>
          <a:prstGeom prst="rect"/>
          <a:ln w="12192">
            <a:solidFill>
              <a:srgbClr val="FFFFFF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562610">
              <a:lnSpc>
                <a:spcPct val="100000"/>
              </a:lnSpc>
              <a:spcBef>
                <a:spcPts val="165"/>
              </a:spcBef>
            </a:pPr>
            <a:r>
              <a:rPr dirty="0" sz="2800" b="1">
                <a:latin typeface="Arial"/>
                <a:cs typeface="Arial"/>
              </a:rPr>
              <a:t>Sasaran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Proyek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dan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3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Kendala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(Triple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Constraint)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26045" y="1404937"/>
            <a:ext cx="1879600" cy="1597660"/>
            <a:chOff x="1126045" y="1404937"/>
            <a:chExt cx="1879600" cy="1597660"/>
          </a:xfrm>
        </p:grpSpPr>
        <p:sp>
          <p:nvSpPr>
            <p:cNvPr id="4" name="object 4" descr=""/>
            <p:cNvSpPr/>
            <p:nvPr/>
          </p:nvSpPr>
          <p:spPr>
            <a:xfrm>
              <a:off x="1130808" y="1409700"/>
              <a:ext cx="1870075" cy="1588135"/>
            </a:xfrm>
            <a:custGeom>
              <a:avLst/>
              <a:gdLst/>
              <a:ahLst/>
              <a:cxnLst/>
              <a:rect l="l" t="t" r="r" b="b"/>
              <a:pathLst>
                <a:path w="1870075" h="1588135">
                  <a:moveTo>
                    <a:pt x="934973" y="0"/>
                  </a:moveTo>
                  <a:lnTo>
                    <a:pt x="0" y="1588008"/>
                  </a:lnTo>
                  <a:lnTo>
                    <a:pt x="1869948" y="1588008"/>
                  </a:lnTo>
                  <a:lnTo>
                    <a:pt x="934973" y="0"/>
                  </a:lnTo>
                  <a:close/>
                </a:path>
              </a:pathLst>
            </a:custGeom>
            <a:solidFill>
              <a:srgbClr val="FB00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30808" y="1409700"/>
              <a:ext cx="1870075" cy="1588135"/>
            </a:xfrm>
            <a:custGeom>
              <a:avLst/>
              <a:gdLst/>
              <a:ahLst/>
              <a:cxnLst/>
              <a:rect l="l" t="t" r="r" b="b"/>
              <a:pathLst>
                <a:path w="1870075" h="1588135">
                  <a:moveTo>
                    <a:pt x="0" y="1588008"/>
                  </a:moveTo>
                  <a:lnTo>
                    <a:pt x="934973" y="0"/>
                  </a:lnTo>
                  <a:lnTo>
                    <a:pt x="1869948" y="1588008"/>
                  </a:lnTo>
                  <a:lnTo>
                    <a:pt x="0" y="158800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589024" y="2394584"/>
            <a:ext cx="956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MUTU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586537" y="1407985"/>
            <a:ext cx="1881505" cy="1448435"/>
            <a:chOff x="6586537" y="1407985"/>
            <a:chExt cx="1881505" cy="1448435"/>
          </a:xfrm>
        </p:grpSpPr>
        <p:sp>
          <p:nvSpPr>
            <p:cNvPr id="8" name="object 8" descr=""/>
            <p:cNvSpPr/>
            <p:nvPr/>
          </p:nvSpPr>
          <p:spPr>
            <a:xfrm>
              <a:off x="6591300" y="1412747"/>
              <a:ext cx="1871980" cy="1438910"/>
            </a:xfrm>
            <a:custGeom>
              <a:avLst/>
              <a:gdLst/>
              <a:ahLst/>
              <a:cxnLst/>
              <a:rect l="l" t="t" r="r" b="b"/>
              <a:pathLst>
                <a:path w="1871979" h="1438910">
                  <a:moveTo>
                    <a:pt x="935735" y="0"/>
                  </a:moveTo>
                  <a:lnTo>
                    <a:pt x="0" y="1438655"/>
                  </a:lnTo>
                  <a:lnTo>
                    <a:pt x="1871472" y="1438655"/>
                  </a:lnTo>
                  <a:lnTo>
                    <a:pt x="935735" y="0"/>
                  </a:lnTo>
                  <a:close/>
                </a:path>
              </a:pathLst>
            </a:custGeom>
            <a:solidFill>
              <a:srgbClr val="FB00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91300" y="1412747"/>
              <a:ext cx="1871980" cy="1438910"/>
            </a:xfrm>
            <a:custGeom>
              <a:avLst/>
              <a:gdLst/>
              <a:ahLst/>
              <a:cxnLst/>
              <a:rect l="l" t="t" r="r" b="b"/>
              <a:pathLst>
                <a:path w="1871979" h="1438910">
                  <a:moveTo>
                    <a:pt x="0" y="1438655"/>
                  </a:moveTo>
                  <a:lnTo>
                    <a:pt x="935735" y="0"/>
                  </a:lnTo>
                  <a:lnTo>
                    <a:pt x="1871472" y="1438655"/>
                  </a:lnTo>
                  <a:lnTo>
                    <a:pt x="0" y="1438655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053833" y="2285441"/>
            <a:ext cx="9525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0" b="1">
                <a:solidFill>
                  <a:srgbClr val="FFFFFF"/>
                </a:solidFill>
                <a:latin typeface="Times New Roman"/>
                <a:cs typeface="Times New Roman"/>
              </a:rPr>
              <a:t>BIAYA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060448" y="2127504"/>
            <a:ext cx="5474335" cy="3898900"/>
            <a:chOff x="2060448" y="2127504"/>
            <a:chExt cx="5474335" cy="3898900"/>
          </a:xfrm>
        </p:grpSpPr>
        <p:sp>
          <p:nvSpPr>
            <p:cNvPr id="12" name="object 12" descr=""/>
            <p:cNvSpPr/>
            <p:nvPr/>
          </p:nvSpPr>
          <p:spPr>
            <a:xfrm>
              <a:off x="3938016" y="4722876"/>
              <a:ext cx="2030095" cy="1298575"/>
            </a:xfrm>
            <a:custGeom>
              <a:avLst/>
              <a:gdLst/>
              <a:ahLst/>
              <a:cxnLst/>
              <a:rect l="l" t="t" r="r" b="b"/>
              <a:pathLst>
                <a:path w="2030095" h="1298575">
                  <a:moveTo>
                    <a:pt x="1014984" y="0"/>
                  </a:moveTo>
                  <a:lnTo>
                    <a:pt x="0" y="1298448"/>
                  </a:lnTo>
                  <a:lnTo>
                    <a:pt x="2029968" y="1298448"/>
                  </a:lnTo>
                  <a:lnTo>
                    <a:pt x="1014984" y="0"/>
                  </a:lnTo>
                  <a:close/>
                </a:path>
              </a:pathLst>
            </a:custGeom>
            <a:solidFill>
              <a:srgbClr val="FB00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938016" y="4722876"/>
              <a:ext cx="2030095" cy="1298575"/>
            </a:xfrm>
            <a:custGeom>
              <a:avLst/>
              <a:gdLst/>
              <a:ahLst/>
              <a:cxnLst/>
              <a:rect l="l" t="t" r="r" b="b"/>
              <a:pathLst>
                <a:path w="2030095" h="1298575">
                  <a:moveTo>
                    <a:pt x="0" y="1298448"/>
                  </a:moveTo>
                  <a:lnTo>
                    <a:pt x="1014984" y="0"/>
                  </a:lnTo>
                  <a:lnTo>
                    <a:pt x="2029968" y="1298448"/>
                  </a:lnTo>
                  <a:lnTo>
                    <a:pt x="0" y="129844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066544" y="2133600"/>
              <a:ext cx="5462270" cy="3312160"/>
            </a:xfrm>
            <a:custGeom>
              <a:avLst/>
              <a:gdLst/>
              <a:ahLst/>
              <a:cxnLst/>
              <a:rect l="l" t="t" r="r" b="b"/>
              <a:pathLst>
                <a:path w="5462270" h="3312160">
                  <a:moveTo>
                    <a:pt x="0" y="864108"/>
                  </a:moveTo>
                  <a:lnTo>
                    <a:pt x="2339340" y="3240024"/>
                  </a:lnTo>
                </a:path>
                <a:path w="5462270" h="3312160">
                  <a:moveTo>
                    <a:pt x="5462015" y="719327"/>
                  </a:moveTo>
                  <a:lnTo>
                    <a:pt x="3433572" y="3311652"/>
                  </a:lnTo>
                </a:path>
                <a:path w="5462270" h="3312160">
                  <a:moveTo>
                    <a:pt x="452628" y="0"/>
                  </a:moveTo>
                  <a:lnTo>
                    <a:pt x="4977383" y="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72592" y="3140710"/>
            <a:ext cx="14878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Sesuai</a:t>
            </a:r>
            <a:r>
              <a:rPr dirty="0" sz="20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Target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 descr=""/>
          <p:cNvSpPr txBox="1"/>
          <p:nvPr/>
        </p:nvSpPr>
        <p:spPr>
          <a:xfrm>
            <a:off x="7387208" y="3007613"/>
            <a:ext cx="2464435" cy="940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Sesuai</a:t>
            </a:r>
            <a:r>
              <a:rPr dirty="0" sz="2000" spc="-1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Anggaran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Tidak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harus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dicairkan sekaligus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90470" y="5491683"/>
            <a:ext cx="5013325" cy="103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WAKTU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3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Delivery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dirty="0" sz="20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Modul</a:t>
            </a:r>
            <a:r>
              <a:rPr dirty="0" sz="20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dirty="0" sz="20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Phase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1151" y="627887"/>
            <a:ext cx="3785615" cy="76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5788" rIns="0" bIns="0" rtlCol="0" vert="horz">
            <a:spAutoFit/>
          </a:bodyPr>
          <a:lstStyle/>
          <a:p>
            <a:pPr marL="3141980">
              <a:lnSpc>
                <a:spcPct val="100000"/>
              </a:lnSpc>
              <a:spcBef>
                <a:spcPts val="100"/>
              </a:spcBef>
            </a:pPr>
            <a:r>
              <a:rPr dirty="0"/>
              <a:t>End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This </a:t>
            </a:r>
            <a:r>
              <a:rPr dirty="0" spc="-10"/>
              <a:t>Session...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0855" y="1773935"/>
            <a:ext cx="2238755" cy="309829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448038" y="6465789"/>
            <a:ext cx="177800" cy="363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©Ian</a:t>
            </a:r>
            <a:r>
              <a:rPr dirty="0" spc="-55"/>
              <a:t> </a:t>
            </a:r>
            <a:r>
              <a:rPr dirty="0"/>
              <a:t>Sommerville</a:t>
            </a:r>
            <a:r>
              <a:rPr dirty="0" spc="-20"/>
              <a:t> 2004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Software</a:t>
            </a:r>
            <a:r>
              <a:rPr dirty="0" spc="-55"/>
              <a:t> </a:t>
            </a:r>
            <a:r>
              <a:rPr dirty="0"/>
              <a:t>Engineering,</a:t>
            </a:r>
            <a:r>
              <a:rPr dirty="0" spc="-35"/>
              <a:t> </a:t>
            </a:r>
            <a:r>
              <a:rPr dirty="0"/>
              <a:t>7th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65"/>
              <a:t> </a:t>
            </a:r>
            <a:r>
              <a:rPr dirty="0" spc="-50"/>
              <a:t>1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/>
              <a:t>Slide</a:t>
            </a:r>
            <a:r>
              <a:rPr dirty="0" spc="300"/>
              <a:t> </a:t>
            </a: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title>Project management</dc:title>
  <dcterms:created xsi:type="dcterms:W3CDTF">2025-08-20T16:20:58Z</dcterms:created>
  <dcterms:modified xsi:type="dcterms:W3CDTF">2025-08-20T16:20:58Z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2017-01-29T00:00:00Z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2025-08-20T00:00:00Z</vt:filetime>
  </property>
  <property fmtid="{D5CDD505-2E9C-101B-9397-08002B2CF9AE}" pid="5" name="Producer">
    <vt:lpwstr>Microsoft® PowerPoint® 2013</vt:lpwstr>
  </property>
</Properties>
</file>